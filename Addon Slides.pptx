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C5CBF"/>
          </a:solidFill>
          <a:ln/>
        </p:spPr>
      </p:sp>
      <p:sp>
        <p:nvSpPr>
          <p:cNvPr id="3" name="Shape 1"/>
          <p:cNvSpPr/>
          <p:nvPr/>
        </p:nvSpPr>
        <p:spPr>
          <a:xfrm>
            <a:off x="0" y="5074920"/>
            <a:ext cx="9144000" cy="68580"/>
          </a:xfrm>
          <a:prstGeom prst="rect">
            <a:avLst/>
          </a:prstGeom>
          <a:solidFill>
            <a:srgbClr val="7C5CBF"/>
          </a:solidFill>
          <a:ln/>
        </p:spPr>
      </p:sp>
      <p:sp>
        <p:nvSpPr>
          <p:cNvPr id="4" name="Text 2"/>
          <p:cNvSpPr/>
          <p:nvPr/>
        </p:nvSpPr>
        <p:spPr>
          <a:xfrm>
            <a:off x="274320" y="146304"/>
            <a:ext cx="8595360" cy="402336"/>
          </a:xfrm>
          <a:prstGeom prst="rect">
            <a:avLst/>
          </a:prstGeom>
          <a:noFill/>
          <a:ln/>
        </p:spPr>
        <p:txBody>
          <a:bodyPr wrap="square" rtlCol="0" anchor="ctr"/>
          <a:lstStyle/>
          <a:p>
            <a:pPr indent="0" marL="0">
              <a:buNone/>
            </a:pPr>
            <a:r>
              <a:rPr lang="en-US" sz="1500" b="1" dirty="0">
                <a:solidFill>
                  <a:srgbClr val="1F2937"/>
                </a:solidFill>
              </a:rPr>
              <a:t>SAME QUERY — WHAT EACH APPROACH ACTUALLY RETURNS</a:t>
            </a:r>
            <a:endParaRPr lang="en-US" sz="1500" dirty="0"/>
          </a:p>
        </p:txBody>
      </p:sp>
      <p:sp>
        <p:nvSpPr>
          <p:cNvPr id="5" name="Shape 3"/>
          <p:cNvSpPr/>
          <p:nvPr/>
        </p:nvSpPr>
        <p:spPr>
          <a:xfrm>
            <a:off x="274320" y="658368"/>
            <a:ext cx="8595360" cy="438912"/>
          </a:xfrm>
          <a:prstGeom prst="rect">
            <a:avLst/>
          </a:prstGeom>
          <a:solidFill>
            <a:srgbClr val="EDE8F7"/>
          </a:solidFill>
          <a:ln w="15240">
            <a:solidFill>
              <a:srgbClr val="7C5CBF"/>
            </a:solidFill>
            <a:prstDash val="solid"/>
          </a:ln>
        </p:spPr>
      </p:sp>
      <p:sp>
        <p:nvSpPr>
          <p:cNvPr id="6" name="Text 4"/>
          <p:cNvSpPr/>
          <p:nvPr/>
        </p:nvSpPr>
        <p:spPr>
          <a:xfrm>
            <a:off x="411480" y="676656"/>
            <a:ext cx="8321040" cy="402336"/>
          </a:xfrm>
          <a:prstGeom prst="rect">
            <a:avLst/>
          </a:prstGeom>
          <a:noFill/>
          <a:ln/>
        </p:spPr>
        <p:txBody>
          <a:bodyPr wrap="square" rtlCol="0" anchor="ctr"/>
          <a:lstStyle/>
          <a:p>
            <a:pPr indent="0" marL="0">
              <a:buNone/>
            </a:pPr>
            <a:r>
              <a:rPr lang="en-US" sz="1050" b="1" dirty="0">
                <a:solidFill>
                  <a:srgbClr val="7C5CBF"/>
                </a:solidFill>
              </a:rPr>
              <a:t>Query: </a:t>
            </a:r>
            <a:pPr indent="0" marL="0">
              <a:buNone/>
            </a:pPr>
            <a:r>
              <a:rPr lang="en-US" sz="1050" dirty="0">
                <a:solidFill>
                  <a:srgbClr val="1F2937"/>
                </a:solidFill>
              </a:rPr>
              <a:t>"What is the optimal flow rate for a C18 column with 50% acetonitrile mobile phase separating a mixture of analgesics?"</a:t>
            </a:r>
            <a:endParaRPr lang="en-US" sz="1050" dirty="0"/>
          </a:p>
        </p:txBody>
      </p:sp>
      <p:sp>
        <p:nvSpPr>
          <p:cNvPr id="7" name="Shape 5"/>
          <p:cNvSpPr/>
          <p:nvPr/>
        </p:nvSpPr>
        <p:spPr>
          <a:xfrm>
            <a:off x="228600" y="1207008"/>
            <a:ext cx="4160520" cy="1719072"/>
          </a:xfrm>
          <a:prstGeom prst="rect">
            <a:avLst/>
          </a:prstGeom>
          <a:solidFill>
            <a:srgbClr val="F7F5FB"/>
          </a:solidFill>
          <a:ln w="10160">
            <a:solidFill>
              <a:srgbClr val="D1D5DB"/>
            </a:solidFill>
            <a:prstDash val="solid"/>
          </a:ln>
        </p:spPr>
      </p:sp>
      <p:sp>
        <p:nvSpPr>
          <p:cNvPr id="8" name="Shape 6"/>
          <p:cNvSpPr/>
          <p:nvPr/>
        </p:nvSpPr>
        <p:spPr>
          <a:xfrm>
            <a:off x="228600" y="1207008"/>
            <a:ext cx="4160520" cy="45720"/>
          </a:xfrm>
          <a:prstGeom prst="rect">
            <a:avLst/>
          </a:prstGeom>
          <a:solidFill>
            <a:srgbClr val="DC2626"/>
          </a:solidFill>
          <a:ln/>
        </p:spPr>
      </p:sp>
      <p:sp>
        <p:nvSpPr>
          <p:cNvPr id="9" name="Shape 7"/>
          <p:cNvSpPr/>
          <p:nvPr/>
        </p:nvSpPr>
        <p:spPr>
          <a:xfrm>
            <a:off x="320040" y="1280160"/>
            <a:ext cx="1097280" cy="256032"/>
          </a:xfrm>
          <a:prstGeom prst="rect">
            <a:avLst/>
          </a:prstGeom>
          <a:solidFill>
            <a:srgbClr val="DC2626"/>
          </a:solidFill>
          <a:ln/>
        </p:spPr>
      </p:sp>
      <p:sp>
        <p:nvSpPr>
          <p:cNvPr id="10" name="Text 8"/>
          <p:cNvSpPr/>
          <p:nvPr/>
        </p:nvSpPr>
        <p:spPr>
          <a:xfrm>
            <a:off x="320040" y="1280160"/>
            <a:ext cx="1097280" cy="256032"/>
          </a:xfrm>
          <a:prstGeom prst="rect">
            <a:avLst/>
          </a:prstGeom>
          <a:noFill/>
          <a:ln/>
        </p:spPr>
        <p:txBody>
          <a:bodyPr wrap="square" lIns="0" tIns="0" rIns="0" bIns="0" rtlCol="0" anchor="ctr"/>
          <a:lstStyle/>
          <a:p>
            <a:pPr algn="ctr" indent="0" marL="0">
              <a:buNone/>
            </a:pPr>
            <a:r>
              <a:rPr lang="en-US" sz="750" b="1" dirty="0">
                <a:solidFill>
                  <a:srgbClr val="FFFFFF"/>
                </a:solidFill>
              </a:rPr>
              <a:t>NAIVE RAG</a:t>
            </a:r>
            <a:endParaRPr lang="en-US" sz="750" dirty="0"/>
          </a:p>
        </p:txBody>
      </p:sp>
      <p:sp>
        <p:nvSpPr>
          <p:cNvPr id="11" name="Text 9"/>
          <p:cNvSpPr/>
          <p:nvPr/>
        </p:nvSpPr>
        <p:spPr>
          <a:xfrm>
            <a:off x="347472" y="1572768"/>
            <a:ext cx="3931920" cy="347472"/>
          </a:xfrm>
          <a:prstGeom prst="rect">
            <a:avLst/>
          </a:prstGeom>
          <a:noFill/>
          <a:ln/>
        </p:spPr>
        <p:txBody>
          <a:bodyPr wrap="square" rtlCol="0" anchor="ctr"/>
          <a:lstStyle/>
          <a:p>
            <a:pPr indent="0" marL="0">
              <a:buNone/>
            </a:pPr>
            <a:r>
              <a:rPr lang="en-US" sz="850" i="1" dirty="0">
                <a:solidFill>
                  <a:srgbClr val="6B7280"/>
                </a:solidFill>
              </a:rPr>
              <a:t>Retrieves: chunk #247 (acetonitrile gradient) + chunk #891 (C18 column specs) — independent, unrelated fragments</a:t>
            </a:r>
            <a:endParaRPr lang="en-US" sz="850" dirty="0"/>
          </a:p>
        </p:txBody>
      </p:sp>
      <p:sp>
        <p:nvSpPr>
          <p:cNvPr id="12" name="Shape 10"/>
          <p:cNvSpPr/>
          <p:nvPr/>
        </p:nvSpPr>
        <p:spPr>
          <a:xfrm>
            <a:off x="274320" y="1938528"/>
            <a:ext cx="4069080" cy="868680"/>
          </a:xfrm>
          <a:prstGeom prst="rect">
            <a:avLst/>
          </a:prstGeom>
          <a:solidFill>
            <a:srgbClr val="FFFFFF"/>
          </a:solidFill>
          <a:ln w="6350">
            <a:solidFill>
              <a:srgbClr val="D1D5DB"/>
            </a:solidFill>
            <a:prstDash val="solid"/>
          </a:ln>
        </p:spPr>
      </p:sp>
      <p:sp>
        <p:nvSpPr>
          <p:cNvPr id="13" name="Text 11"/>
          <p:cNvSpPr/>
          <p:nvPr/>
        </p:nvSpPr>
        <p:spPr>
          <a:xfrm>
            <a:off x="347472" y="1965960"/>
            <a:ext cx="3931920" cy="777240"/>
          </a:xfrm>
          <a:prstGeom prst="rect">
            <a:avLst/>
          </a:prstGeom>
          <a:noFill/>
          <a:ln/>
        </p:spPr>
        <p:txBody>
          <a:bodyPr wrap="square" rtlCol="0" anchor="ctr"/>
          <a:lstStyle/>
          <a:p>
            <a:pPr indent="0" marL="0">
              <a:buNone/>
            </a:pPr>
            <a:r>
              <a:rPr lang="en-US" sz="900" i="1" dirty="0">
                <a:solidFill>
                  <a:srgbClr val="1F2937"/>
                </a:solidFill>
              </a:rPr>
              <a:t>"For C18 columns, a flow rate of </a:t>
            </a:r>
            <a:pPr indent="0" marL="0">
              <a:buNone/>
            </a:pPr>
            <a:r>
              <a:rPr lang="en-US" sz="900" b="1" i="1" dirty="0">
                <a:solidFill>
                  <a:srgbClr val="1F2937"/>
                </a:solidFill>
              </a:rPr>
              <a:t>1.0–2.0 mL/min</a:t>
            </a:r>
            <a:pPr indent="0" marL="0">
              <a:buNone/>
            </a:pPr>
            <a:r>
              <a:rPr lang="en-US" sz="900" i="1" dirty="0">
                <a:solidFill>
                  <a:srgbClr val="1F2937"/>
                </a:solidFill>
              </a:rPr>
              <a:t> is typically used. Acetonitrile at 50% provides moderate elution strength. </a:t>
            </a:r>
            <a:pPr indent="0" marL="0">
              <a:buNone/>
            </a:pPr>
            <a:r>
              <a:rPr lang="en-US" sz="900" i="1" dirty="0">
                <a:solidFill>
                  <a:srgbClr val="1F2937"/>
                </a:solidFill>
              </a:rPr>
              <a:t>Retention factors around 2–10 are ideal for analgesics."</a:t>
            </a:r>
            <a:endParaRPr lang="en-US" sz="900" dirty="0"/>
          </a:p>
        </p:txBody>
      </p:sp>
      <p:sp>
        <p:nvSpPr>
          <p:cNvPr id="14" name="Text 12"/>
          <p:cNvSpPr/>
          <p:nvPr/>
        </p:nvSpPr>
        <p:spPr>
          <a:xfrm>
            <a:off x="274320" y="2944368"/>
            <a:ext cx="4114800" cy="310896"/>
          </a:xfrm>
          <a:prstGeom prst="rect">
            <a:avLst/>
          </a:prstGeom>
          <a:noFill/>
          <a:ln/>
        </p:spPr>
        <p:txBody>
          <a:bodyPr wrap="square" rtlCol="0" anchor="ctr"/>
          <a:lstStyle/>
          <a:p>
            <a:pPr indent="0" marL="0">
              <a:buNone/>
            </a:pPr>
            <a:r>
              <a:rPr lang="en-US" sz="800" dirty="0">
                <a:solidFill>
                  <a:srgbClr val="DC2626"/>
                </a:solidFill>
              </a:rPr>
              <a:t>⚠  Generic, textbook-level. No mention of analgesic pKa, column dimension, or Van Deemter optimum. LLM filled gaps from parametric knowledge.</a:t>
            </a:r>
            <a:endParaRPr lang="en-US" sz="800" dirty="0"/>
          </a:p>
        </p:txBody>
      </p:sp>
      <p:sp>
        <p:nvSpPr>
          <p:cNvPr id="15" name="Shape 13"/>
          <p:cNvSpPr/>
          <p:nvPr/>
        </p:nvSpPr>
        <p:spPr>
          <a:xfrm>
            <a:off x="4754880" y="1207008"/>
            <a:ext cx="4160520" cy="1719072"/>
          </a:xfrm>
          <a:prstGeom prst="rect">
            <a:avLst/>
          </a:prstGeom>
          <a:solidFill>
            <a:srgbClr val="F7F5FB"/>
          </a:solidFill>
          <a:ln w="10160">
            <a:solidFill>
              <a:srgbClr val="D1D5DB"/>
            </a:solidFill>
            <a:prstDash val="solid"/>
          </a:ln>
        </p:spPr>
      </p:sp>
      <p:sp>
        <p:nvSpPr>
          <p:cNvPr id="16" name="Shape 14"/>
          <p:cNvSpPr/>
          <p:nvPr/>
        </p:nvSpPr>
        <p:spPr>
          <a:xfrm>
            <a:off x="4754880" y="1207008"/>
            <a:ext cx="4160520" cy="45720"/>
          </a:xfrm>
          <a:prstGeom prst="rect">
            <a:avLst/>
          </a:prstGeom>
          <a:solidFill>
            <a:srgbClr val="DC2626"/>
          </a:solidFill>
          <a:ln/>
        </p:spPr>
      </p:sp>
      <p:sp>
        <p:nvSpPr>
          <p:cNvPr id="17" name="Shape 15"/>
          <p:cNvSpPr/>
          <p:nvPr/>
        </p:nvSpPr>
        <p:spPr>
          <a:xfrm>
            <a:off x="4846320" y="1280160"/>
            <a:ext cx="1188720" cy="256032"/>
          </a:xfrm>
          <a:prstGeom prst="rect">
            <a:avLst/>
          </a:prstGeom>
          <a:solidFill>
            <a:srgbClr val="DC2626"/>
          </a:solidFill>
          <a:ln/>
        </p:spPr>
      </p:sp>
      <p:sp>
        <p:nvSpPr>
          <p:cNvPr id="18" name="Text 16"/>
          <p:cNvSpPr/>
          <p:nvPr/>
        </p:nvSpPr>
        <p:spPr>
          <a:xfrm>
            <a:off x="4846320" y="1280160"/>
            <a:ext cx="1188720" cy="256032"/>
          </a:xfrm>
          <a:prstGeom prst="rect">
            <a:avLst/>
          </a:prstGeom>
          <a:noFill/>
          <a:ln/>
        </p:spPr>
        <p:txBody>
          <a:bodyPr wrap="square" lIns="0" tIns="0" rIns="0" bIns="0" rtlCol="0" anchor="ctr"/>
          <a:lstStyle/>
          <a:p>
            <a:pPr algn="ctr" indent="0" marL="0">
              <a:buNone/>
            </a:pPr>
            <a:r>
              <a:rPr lang="en-US" sz="750" b="1" dirty="0">
                <a:solidFill>
                  <a:srgbClr val="FFFFFF"/>
                </a:solidFill>
              </a:rPr>
              <a:t>FINE-TUNING</a:t>
            </a:r>
            <a:endParaRPr lang="en-US" sz="750" dirty="0"/>
          </a:p>
        </p:txBody>
      </p:sp>
      <p:sp>
        <p:nvSpPr>
          <p:cNvPr id="19" name="Text 17"/>
          <p:cNvSpPr/>
          <p:nvPr/>
        </p:nvSpPr>
        <p:spPr>
          <a:xfrm>
            <a:off x="4846320" y="1572768"/>
            <a:ext cx="3931920" cy="347472"/>
          </a:xfrm>
          <a:prstGeom prst="rect">
            <a:avLst/>
          </a:prstGeom>
          <a:noFill/>
          <a:ln/>
        </p:spPr>
        <p:txBody>
          <a:bodyPr wrap="square" rtlCol="0" anchor="ctr"/>
          <a:lstStyle/>
          <a:p>
            <a:pPr indent="0" marL="0">
              <a:buNone/>
            </a:pPr>
            <a:r>
              <a:rPr lang="en-US" sz="850" i="1" dirty="0">
                <a:solidFill>
                  <a:srgbClr val="6B7280"/>
                </a:solidFill>
              </a:rPr>
              <a:t>Retrieves: nothing — knowledge is baked into weights. No source tracing possible.</a:t>
            </a:r>
            <a:endParaRPr lang="en-US" sz="850" dirty="0"/>
          </a:p>
        </p:txBody>
      </p:sp>
      <p:sp>
        <p:nvSpPr>
          <p:cNvPr id="20" name="Shape 18"/>
          <p:cNvSpPr/>
          <p:nvPr/>
        </p:nvSpPr>
        <p:spPr>
          <a:xfrm>
            <a:off x="4800600" y="1938528"/>
            <a:ext cx="4069080" cy="868680"/>
          </a:xfrm>
          <a:prstGeom prst="rect">
            <a:avLst/>
          </a:prstGeom>
          <a:solidFill>
            <a:srgbClr val="FFFFFF"/>
          </a:solidFill>
          <a:ln w="6350">
            <a:solidFill>
              <a:srgbClr val="D1D5DB"/>
            </a:solidFill>
            <a:prstDash val="solid"/>
          </a:ln>
        </p:spPr>
      </p:sp>
      <p:sp>
        <p:nvSpPr>
          <p:cNvPr id="21" name="Text 19"/>
          <p:cNvSpPr/>
          <p:nvPr/>
        </p:nvSpPr>
        <p:spPr>
          <a:xfrm>
            <a:off x="4864608" y="1965960"/>
            <a:ext cx="3931920" cy="777240"/>
          </a:xfrm>
          <a:prstGeom prst="rect">
            <a:avLst/>
          </a:prstGeom>
          <a:noFill/>
          <a:ln/>
        </p:spPr>
        <p:txBody>
          <a:bodyPr wrap="square" rtlCol="0" anchor="ctr"/>
          <a:lstStyle/>
          <a:p>
            <a:pPr indent="0" marL="0">
              <a:buNone/>
            </a:pPr>
            <a:r>
              <a:rPr lang="en-US" sz="900" i="1" dirty="0">
                <a:solidFill>
                  <a:srgbClr val="1F2937"/>
                </a:solidFill>
              </a:rPr>
              <a:t>"Optimal flow rate for C18 with 50% ACN is </a:t>
            </a:r>
            <a:pPr indent="0" marL="0">
              <a:buNone/>
            </a:pPr>
            <a:r>
              <a:rPr lang="en-US" sz="900" b="1" i="1" dirty="0">
                <a:solidFill>
                  <a:srgbClr val="1F2937"/>
                </a:solidFill>
              </a:rPr>
              <a:t>0.8 mL/min</a:t>
            </a:r>
            <a:pPr indent="0" marL="0">
              <a:buNone/>
            </a:pPr>
            <a:r>
              <a:rPr lang="en-US" sz="900" i="1" dirty="0">
                <a:solidFill>
                  <a:srgbClr val="1F2937"/>
                </a:solidFill>
              </a:rPr>
              <a:t>. Analgesic compounds like ibuprofen and paracetamol show k values of 3.2 and 1.8. </a:t>
            </a:r>
            <a:pPr indent="0" marL="0">
              <a:buNone/>
            </a:pPr>
            <a:r>
              <a:rPr lang="en-US" sz="900" i="1" dirty="0">
                <a:solidFill>
                  <a:srgbClr val="1F2937"/>
                </a:solidFill>
              </a:rPr>
              <a:t>Use 150×4.6mm column at 40°C for best resolution."</a:t>
            </a:r>
            <a:endParaRPr lang="en-US" sz="900" dirty="0"/>
          </a:p>
        </p:txBody>
      </p:sp>
      <p:sp>
        <p:nvSpPr>
          <p:cNvPr id="22" name="Text 20"/>
          <p:cNvSpPr/>
          <p:nvPr/>
        </p:nvSpPr>
        <p:spPr>
          <a:xfrm>
            <a:off x="4800600" y="2944368"/>
            <a:ext cx="4114800" cy="310896"/>
          </a:xfrm>
          <a:prstGeom prst="rect">
            <a:avLst/>
          </a:prstGeom>
          <a:noFill/>
          <a:ln/>
        </p:spPr>
        <p:txBody>
          <a:bodyPr wrap="square" rtlCol="0" anchor="ctr"/>
          <a:lstStyle/>
          <a:p>
            <a:pPr indent="0" marL="0">
              <a:buNone/>
            </a:pPr>
            <a:r>
              <a:rPr lang="en-US" sz="800" dirty="0">
                <a:solidFill>
                  <a:srgbClr val="DC2626"/>
                </a:solidFill>
              </a:rPr>
              <a:t>⚠  Sounds authoritative but cannot be cited. 0.8 mL/min may be hallucinated. k values unverifiable. No source = not usable in pharma.</a:t>
            </a:r>
            <a:endParaRPr lang="en-US" sz="800" dirty="0"/>
          </a:p>
        </p:txBody>
      </p:sp>
      <p:sp>
        <p:nvSpPr>
          <p:cNvPr id="23" name="Shape 21"/>
          <p:cNvSpPr/>
          <p:nvPr/>
        </p:nvSpPr>
        <p:spPr>
          <a:xfrm>
            <a:off x="228600" y="3337560"/>
            <a:ext cx="4160520" cy="1508760"/>
          </a:xfrm>
          <a:prstGeom prst="rect">
            <a:avLst/>
          </a:prstGeom>
          <a:solidFill>
            <a:srgbClr val="F7F5FB"/>
          </a:solidFill>
          <a:ln w="10160">
            <a:solidFill>
              <a:srgbClr val="D1D5DB"/>
            </a:solidFill>
            <a:prstDash val="solid"/>
          </a:ln>
        </p:spPr>
      </p:sp>
      <p:sp>
        <p:nvSpPr>
          <p:cNvPr id="24" name="Shape 22"/>
          <p:cNvSpPr/>
          <p:nvPr/>
        </p:nvSpPr>
        <p:spPr>
          <a:xfrm>
            <a:off x="228600" y="3337560"/>
            <a:ext cx="4160520" cy="45720"/>
          </a:xfrm>
          <a:prstGeom prst="rect">
            <a:avLst/>
          </a:prstGeom>
          <a:solidFill>
            <a:srgbClr val="D97706"/>
          </a:solidFill>
          <a:ln/>
        </p:spPr>
      </p:sp>
      <p:sp>
        <p:nvSpPr>
          <p:cNvPr id="25" name="Shape 23"/>
          <p:cNvSpPr/>
          <p:nvPr/>
        </p:nvSpPr>
        <p:spPr>
          <a:xfrm>
            <a:off x="320040" y="3410712"/>
            <a:ext cx="1188720" cy="256032"/>
          </a:xfrm>
          <a:prstGeom prst="rect">
            <a:avLst/>
          </a:prstGeom>
          <a:solidFill>
            <a:srgbClr val="D97706"/>
          </a:solidFill>
          <a:ln/>
        </p:spPr>
      </p:sp>
      <p:sp>
        <p:nvSpPr>
          <p:cNvPr id="26" name="Text 24"/>
          <p:cNvSpPr/>
          <p:nvPr/>
        </p:nvSpPr>
        <p:spPr>
          <a:xfrm>
            <a:off x="320040" y="3410712"/>
            <a:ext cx="1188720" cy="256032"/>
          </a:xfrm>
          <a:prstGeom prst="rect">
            <a:avLst/>
          </a:prstGeom>
          <a:noFill/>
          <a:ln/>
        </p:spPr>
        <p:txBody>
          <a:bodyPr wrap="square" lIns="0" tIns="0" rIns="0" bIns="0" rtlCol="0" anchor="ctr"/>
          <a:lstStyle/>
          <a:p>
            <a:pPr algn="ctr" indent="0" marL="0">
              <a:buNone/>
            </a:pPr>
            <a:r>
              <a:rPr lang="en-US" sz="750" b="1" dirty="0">
                <a:solidFill>
                  <a:srgbClr val="FFFFFF"/>
                </a:solidFill>
              </a:rPr>
              <a:t>GRAPHRAG</a:t>
            </a:r>
            <a:endParaRPr lang="en-US" sz="750" dirty="0"/>
          </a:p>
        </p:txBody>
      </p:sp>
      <p:sp>
        <p:nvSpPr>
          <p:cNvPr id="27" name="Shape 25"/>
          <p:cNvSpPr/>
          <p:nvPr/>
        </p:nvSpPr>
        <p:spPr>
          <a:xfrm>
            <a:off x="274320" y="3703320"/>
            <a:ext cx="4069080" cy="841248"/>
          </a:xfrm>
          <a:prstGeom prst="rect">
            <a:avLst/>
          </a:prstGeom>
          <a:solidFill>
            <a:srgbClr val="FFFFFF"/>
          </a:solidFill>
          <a:ln w="6350">
            <a:solidFill>
              <a:srgbClr val="D1D5DB"/>
            </a:solidFill>
            <a:prstDash val="solid"/>
          </a:ln>
        </p:spPr>
      </p:sp>
      <p:sp>
        <p:nvSpPr>
          <p:cNvPr id="28" name="Text 26"/>
          <p:cNvSpPr/>
          <p:nvPr/>
        </p:nvSpPr>
        <p:spPr>
          <a:xfrm>
            <a:off x="347472" y="3730752"/>
            <a:ext cx="3931920" cy="658368"/>
          </a:xfrm>
          <a:prstGeom prst="rect">
            <a:avLst/>
          </a:prstGeom>
          <a:noFill/>
          <a:ln/>
        </p:spPr>
        <p:txBody>
          <a:bodyPr wrap="square" rtlCol="0" anchor="ctr"/>
          <a:lstStyle/>
          <a:p>
            <a:pPr indent="0" marL="0">
              <a:buNone/>
            </a:pPr>
            <a:r>
              <a:rPr lang="en-US" sz="900" i="1" dirty="0">
                <a:solidFill>
                  <a:srgbClr val="1F2937"/>
                </a:solidFill>
              </a:rPr>
              <a:t>"C18 columns operate effectively with acetonitrile mobile phases. </a:t>
            </a:r>
            <a:pPr indent="0" marL="0">
              <a:buNone/>
            </a:pPr>
            <a:r>
              <a:rPr lang="en-US" sz="900" i="1" dirty="0">
                <a:solidFill>
                  <a:srgbClr val="1F2937"/>
                </a:solidFill>
              </a:rPr>
              <a:t>Flow rate is related to efficiency. Analgesic separation requires appropriate column selection."</a:t>
            </a:r>
            <a:endParaRPr lang="en-US" sz="900" dirty="0"/>
          </a:p>
        </p:txBody>
      </p:sp>
      <p:sp>
        <p:nvSpPr>
          <p:cNvPr id="29" name="Text 27"/>
          <p:cNvSpPr/>
          <p:nvPr/>
        </p:nvSpPr>
        <p:spPr>
          <a:xfrm>
            <a:off x="274320" y="4572000"/>
            <a:ext cx="4114800" cy="292608"/>
          </a:xfrm>
          <a:prstGeom prst="rect">
            <a:avLst/>
          </a:prstGeom>
          <a:noFill/>
          <a:ln/>
        </p:spPr>
        <p:txBody>
          <a:bodyPr wrap="square" rtlCol="0" anchor="ctr"/>
          <a:lstStyle/>
          <a:p>
            <a:pPr indent="0" marL="0">
              <a:buNone/>
            </a:pPr>
            <a:r>
              <a:rPr lang="en-US" sz="800" dirty="0">
                <a:solidFill>
                  <a:srgbClr val="D97706"/>
                </a:solidFill>
              </a:rPr>
              <a:t>⚠  Community summarisation stripped all numeric values. Three vague true statements — useless for method development.</a:t>
            </a:r>
            <a:endParaRPr lang="en-US" sz="800" dirty="0"/>
          </a:p>
        </p:txBody>
      </p:sp>
      <p:sp>
        <p:nvSpPr>
          <p:cNvPr id="30" name="Shape 28"/>
          <p:cNvSpPr/>
          <p:nvPr/>
        </p:nvSpPr>
        <p:spPr>
          <a:xfrm>
            <a:off x="4754880" y="3337560"/>
            <a:ext cx="4160520" cy="1508760"/>
          </a:xfrm>
          <a:prstGeom prst="rect">
            <a:avLst/>
          </a:prstGeom>
          <a:solidFill>
            <a:srgbClr val="EDE8F7"/>
          </a:solidFill>
          <a:ln w="19050">
            <a:solidFill>
              <a:srgbClr val="7C5CBF"/>
            </a:solidFill>
            <a:prstDash val="solid"/>
          </a:ln>
        </p:spPr>
      </p:sp>
      <p:sp>
        <p:nvSpPr>
          <p:cNvPr id="31" name="Shape 29"/>
          <p:cNvSpPr/>
          <p:nvPr/>
        </p:nvSpPr>
        <p:spPr>
          <a:xfrm>
            <a:off x="4754880" y="3337560"/>
            <a:ext cx="4160520" cy="45720"/>
          </a:xfrm>
          <a:prstGeom prst="rect">
            <a:avLst/>
          </a:prstGeom>
          <a:solidFill>
            <a:srgbClr val="7C5CBF"/>
          </a:solidFill>
          <a:ln/>
        </p:spPr>
      </p:sp>
      <p:sp>
        <p:nvSpPr>
          <p:cNvPr id="32" name="Shape 30"/>
          <p:cNvSpPr/>
          <p:nvPr/>
        </p:nvSpPr>
        <p:spPr>
          <a:xfrm>
            <a:off x="4846320" y="3410712"/>
            <a:ext cx="1828800" cy="256032"/>
          </a:xfrm>
          <a:prstGeom prst="rect">
            <a:avLst/>
          </a:prstGeom>
          <a:solidFill>
            <a:srgbClr val="7C5CBF"/>
          </a:solidFill>
          <a:ln/>
        </p:spPr>
      </p:sp>
      <p:sp>
        <p:nvSpPr>
          <p:cNvPr id="33" name="Text 31"/>
          <p:cNvSpPr/>
          <p:nvPr/>
        </p:nvSpPr>
        <p:spPr>
          <a:xfrm>
            <a:off x="4846320" y="3410712"/>
            <a:ext cx="1828800" cy="256032"/>
          </a:xfrm>
          <a:prstGeom prst="rect">
            <a:avLst/>
          </a:prstGeom>
          <a:noFill/>
          <a:ln/>
        </p:spPr>
        <p:txBody>
          <a:bodyPr wrap="square" lIns="0" tIns="0" rIns="0" bIns="0" rtlCol="0" anchor="ctr"/>
          <a:lstStyle/>
          <a:p>
            <a:pPr algn="ctr" indent="0" marL="0">
              <a:buNone/>
            </a:pPr>
            <a:r>
              <a:rPr lang="en-US" sz="750" b="1" dirty="0">
                <a:solidFill>
                  <a:srgbClr val="FFFFFF"/>
                </a:solidFill>
              </a:rPr>
              <a:t>OG-RAG + PIKE-RAG</a:t>
            </a:r>
            <a:endParaRPr lang="en-US" sz="750" dirty="0"/>
          </a:p>
        </p:txBody>
      </p:sp>
      <p:sp>
        <p:nvSpPr>
          <p:cNvPr id="34" name="Shape 32"/>
          <p:cNvSpPr/>
          <p:nvPr/>
        </p:nvSpPr>
        <p:spPr>
          <a:xfrm>
            <a:off x="4800600" y="3703320"/>
            <a:ext cx="4069080" cy="841248"/>
          </a:xfrm>
          <a:prstGeom prst="rect">
            <a:avLst/>
          </a:prstGeom>
          <a:solidFill>
            <a:srgbClr val="FFFFFF"/>
          </a:solidFill>
          <a:ln w="10160">
            <a:solidFill>
              <a:srgbClr val="7C5CBF"/>
            </a:solidFill>
            <a:prstDash val="solid"/>
          </a:ln>
        </p:spPr>
      </p:sp>
      <p:sp>
        <p:nvSpPr>
          <p:cNvPr id="35" name="Text 33"/>
          <p:cNvSpPr/>
          <p:nvPr/>
        </p:nvSpPr>
        <p:spPr>
          <a:xfrm>
            <a:off x="4864608" y="3730752"/>
            <a:ext cx="3931920" cy="749808"/>
          </a:xfrm>
          <a:prstGeom prst="rect">
            <a:avLst/>
          </a:prstGeom>
          <a:noFill/>
          <a:ln/>
        </p:spPr>
        <p:txBody>
          <a:bodyPr wrap="square" rtlCol="0" anchor="ctr"/>
          <a:lstStyle/>
          <a:p>
            <a:pPr indent="0" marL="0">
              <a:buNone/>
            </a:pPr>
            <a:r>
              <a:rPr lang="en-US" sz="900" i="1" dirty="0">
                <a:solidFill>
                  <a:srgbClr val="1F2937"/>
                </a:solidFill>
              </a:rPr>
              <a:t>"For a 150×4.6mm C18 column with 50% ACN, the Van Deemter optimum is </a:t>
            </a:r>
            <a:pPr indent="0" marL="0">
              <a:buNone/>
            </a:pPr>
            <a:r>
              <a:rPr lang="en-US" sz="900" b="1" i="1" dirty="0">
                <a:solidFill>
                  <a:srgbClr val="5A3F9A"/>
                </a:solidFill>
              </a:rPr>
              <a:t>u_opt ≈ 1.2 mL/min</a:t>
            </a:r>
            <a:pPr indent="0" marL="0">
              <a:buNone/>
            </a:pPr>
            <a:r>
              <a:rPr lang="en-US" sz="900" i="1" dirty="0">
                <a:solidFill>
                  <a:srgbClr val="1F2937"/>
                </a:solidFill>
              </a:rPr>
              <a:t>. At this rate, ibuprofen (pKa 4.9) shows k=3.4 [Ch.7 p.214], paracetamol k=1.2 [Ch.7 p.218]. Resolution Rs=1.8 — baseline separation confirmed [Ch.3 p.94]."</a:t>
            </a:r>
            <a:endParaRPr lang="en-US" sz="900" dirty="0"/>
          </a:p>
        </p:txBody>
      </p:sp>
      <p:sp>
        <p:nvSpPr>
          <p:cNvPr id="36" name="Text 34"/>
          <p:cNvSpPr/>
          <p:nvPr/>
        </p:nvSpPr>
        <p:spPr>
          <a:xfrm>
            <a:off x="4800600" y="4572000"/>
            <a:ext cx="4114800" cy="292608"/>
          </a:xfrm>
          <a:prstGeom prst="rect">
            <a:avLst/>
          </a:prstGeom>
          <a:noFill/>
          <a:ln/>
        </p:spPr>
        <p:txBody>
          <a:bodyPr wrap="square" rtlCol="0" anchor="ctr"/>
          <a:lstStyle/>
          <a:p>
            <a:pPr indent="0" marL="0">
              <a:buNone/>
            </a:pPr>
            <a:r>
              <a:rPr lang="en-US" sz="800" b="1" dirty="0">
                <a:solidFill>
                  <a:srgbClr val="7C5CBF"/>
                </a:solidFill>
              </a:rPr>
              <a:t>✓  3 source citations. Every number traceable. Optimum derived from Van Deemter hyperedge + analgesic property hyperedge together.</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C5CBF"/>
          </a:solidFill>
          <a:ln/>
        </p:spPr>
      </p:sp>
      <p:sp>
        <p:nvSpPr>
          <p:cNvPr id="3" name="Shape 1"/>
          <p:cNvSpPr/>
          <p:nvPr/>
        </p:nvSpPr>
        <p:spPr>
          <a:xfrm>
            <a:off x="0" y="5074920"/>
            <a:ext cx="9144000" cy="68580"/>
          </a:xfrm>
          <a:prstGeom prst="rect">
            <a:avLst/>
          </a:prstGeom>
          <a:solidFill>
            <a:srgbClr val="7C5CBF"/>
          </a:solidFill>
          <a:ln/>
        </p:spPr>
      </p:sp>
      <p:sp>
        <p:nvSpPr>
          <p:cNvPr id="4" name="Text 2"/>
          <p:cNvSpPr/>
          <p:nvPr/>
        </p:nvSpPr>
        <p:spPr>
          <a:xfrm>
            <a:off x="274320" y="146304"/>
            <a:ext cx="8595360" cy="402336"/>
          </a:xfrm>
          <a:prstGeom prst="rect">
            <a:avLst/>
          </a:prstGeom>
          <a:noFill/>
          <a:ln/>
        </p:spPr>
        <p:txBody>
          <a:bodyPr wrap="square" rtlCol="0" anchor="ctr"/>
          <a:lstStyle/>
          <a:p>
            <a:pPr indent="0" marL="0">
              <a:buNone/>
            </a:pPr>
            <a:r>
              <a:rPr lang="en-US" sz="1500" b="1" dirty="0">
                <a:solidFill>
                  <a:srgbClr val="1F2937"/>
                </a:solidFill>
              </a:rPr>
              <a:t>SAME QUERY — HYBRID RAG vs OG-RAG + PIKE-RAG (MULTI-HOP QUESTION)</a:t>
            </a:r>
            <a:endParaRPr lang="en-US" sz="1500" dirty="0"/>
          </a:p>
        </p:txBody>
      </p:sp>
      <p:sp>
        <p:nvSpPr>
          <p:cNvPr id="5" name="Shape 3"/>
          <p:cNvSpPr/>
          <p:nvPr/>
        </p:nvSpPr>
        <p:spPr>
          <a:xfrm>
            <a:off x="274320" y="658368"/>
            <a:ext cx="8595360" cy="438912"/>
          </a:xfrm>
          <a:prstGeom prst="rect">
            <a:avLst/>
          </a:prstGeom>
          <a:solidFill>
            <a:srgbClr val="EDE8F7"/>
          </a:solidFill>
          <a:ln w="15240">
            <a:solidFill>
              <a:srgbClr val="7C5CBF"/>
            </a:solidFill>
            <a:prstDash val="solid"/>
          </a:ln>
        </p:spPr>
      </p:sp>
      <p:sp>
        <p:nvSpPr>
          <p:cNvPr id="6" name="Text 4"/>
          <p:cNvSpPr/>
          <p:nvPr/>
        </p:nvSpPr>
        <p:spPr>
          <a:xfrm>
            <a:off x="411480" y="676656"/>
            <a:ext cx="8321040" cy="402336"/>
          </a:xfrm>
          <a:prstGeom prst="rect">
            <a:avLst/>
          </a:prstGeom>
          <a:noFill/>
          <a:ln/>
        </p:spPr>
        <p:txBody>
          <a:bodyPr wrap="square" rtlCol="0" anchor="ctr"/>
          <a:lstStyle/>
          <a:p>
            <a:pPr indent="0" marL="0">
              <a:buNone/>
            </a:pPr>
            <a:r>
              <a:rPr lang="en-US" sz="1050" b="1" dirty="0">
                <a:solidFill>
                  <a:srgbClr val="7C5CBF"/>
                </a:solidFill>
              </a:rPr>
              <a:t>Query: </a:t>
            </a:r>
            <a:pPr indent="0" marL="0">
              <a:buNone/>
            </a:pPr>
            <a:r>
              <a:rPr lang="en-US" sz="1050" dirty="0">
                <a:solidFill>
                  <a:srgbClr val="1F2937"/>
                </a:solidFill>
              </a:rPr>
              <a:t>"Why does increasing temperature improve peak shape in HPLC, and what are the trade-offs for thermally labile compounds?"</a:t>
            </a:r>
            <a:endParaRPr lang="en-US" sz="1050" dirty="0"/>
          </a:p>
        </p:txBody>
      </p:sp>
      <p:sp>
        <p:nvSpPr>
          <p:cNvPr id="7" name="Text 5"/>
          <p:cNvSpPr/>
          <p:nvPr/>
        </p:nvSpPr>
        <p:spPr>
          <a:xfrm>
            <a:off x="274320" y="1133856"/>
            <a:ext cx="8595360" cy="256032"/>
          </a:xfrm>
          <a:prstGeom prst="rect">
            <a:avLst/>
          </a:prstGeom>
          <a:noFill/>
          <a:ln/>
        </p:spPr>
        <p:txBody>
          <a:bodyPr wrap="square" rtlCol="0" anchor="ctr"/>
          <a:lstStyle/>
          <a:p>
            <a:pPr indent="0" marL="0">
              <a:buNone/>
            </a:pPr>
            <a:r>
              <a:rPr lang="en-US" sz="850" i="1" dirty="0">
                <a:solidFill>
                  <a:srgbClr val="6B7280"/>
                </a:solidFill>
              </a:rPr>
              <a:t>This is a multi-hop question: Cause (temperature → viscosity → diffusion → C-term) + Trade-off (stability → degradation). Both hops required for a complete answer.</a:t>
            </a:r>
            <a:endParaRPr lang="en-US" sz="850" dirty="0"/>
          </a:p>
        </p:txBody>
      </p:sp>
      <p:sp>
        <p:nvSpPr>
          <p:cNvPr id="8" name="Shape 6"/>
          <p:cNvSpPr/>
          <p:nvPr/>
        </p:nvSpPr>
        <p:spPr>
          <a:xfrm>
            <a:off x="228600" y="1463040"/>
            <a:ext cx="4251960" cy="3364992"/>
          </a:xfrm>
          <a:prstGeom prst="rect">
            <a:avLst/>
          </a:prstGeom>
          <a:solidFill>
            <a:srgbClr val="F7F5FB"/>
          </a:solidFill>
          <a:ln w="10160">
            <a:solidFill>
              <a:srgbClr val="D1D5DB"/>
            </a:solidFill>
            <a:prstDash val="solid"/>
          </a:ln>
        </p:spPr>
      </p:sp>
      <p:sp>
        <p:nvSpPr>
          <p:cNvPr id="9" name="Shape 7"/>
          <p:cNvSpPr/>
          <p:nvPr/>
        </p:nvSpPr>
        <p:spPr>
          <a:xfrm>
            <a:off x="228600" y="1463040"/>
            <a:ext cx="4251960" cy="45720"/>
          </a:xfrm>
          <a:prstGeom prst="rect">
            <a:avLst/>
          </a:prstGeom>
          <a:solidFill>
            <a:srgbClr val="D97706"/>
          </a:solidFill>
          <a:ln/>
        </p:spPr>
      </p:sp>
      <p:sp>
        <p:nvSpPr>
          <p:cNvPr id="10" name="Shape 8"/>
          <p:cNvSpPr/>
          <p:nvPr/>
        </p:nvSpPr>
        <p:spPr>
          <a:xfrm>
            <a:off x="320040" y="1536192"/>
            <a:ext cx="1371600" cy="256032"/>
          </a:xfrm>
          <a:prstGeom prst="rect">
            <a:avLst/>
          </a:prstGeom>
          <a:solidFill>
            <a:srgbClr val="D97706"/>
          </a:solidFill>
          <a:ln/>
        </p:spPr>
      </p:sp>
      <p:sp>
        <p:nvSpPr>
          <p:cNvPr id="11" name="Text 9"/>
          <p:cNvSpPr/>
          <p:nvPr/>
        </p:nvSpPr>
        <p:spPr>
          <a:xfrm>
            <a:off x="320040" y="1536192"/>
            <a:ext cx="1371600" cy="256032"/>
          </a:xfrm>
          <a:prstGeom prst="rect">
            <a:avLst/>
          </a:prstGeom>
          <a:noFill/>
          <a:ln/>
        </p:spPr>
        <p:txBody>
          <a:bodyPr wrap="square" lIns="0" tIns="0" rIns="0" bIns="0" rtlCol="0" anchor="ctr"/>
          <a:lstStyle/>
          <a:p>
            <a:pPr algn="ctr" indent="0" marL="0">
              <a:buNone/>
            </a:pPr>
            <a:r>
              <a:rPr lang="en-US" sz="800" b="1" dirty="0">
                <a:solidFill>
                  <a:srgbClr val="FFFFFF"/>
                </a:solidFill>
              </a:rPr>
              <a:t>HYBRID RAG</a:t>
            </a:r>
            <a:endParaRPr lang="en-US" sz="800" dirty="0"/>
          </a:p>
        </p:txBody>
      </p:sp>
      <p:sp>
        <p:nvSpPr>
          <p:cNvPr id="12" name="Text 10"/>
          <p:cNvSpPr/>
          <p:nvPr/>
        </p:nvSpPr>
        <p:spPr>
          <a:xfrm>
            <a:off x="347472" y="1828800"/>
            <a:ext cx="4041648" cy="237744"/>
          </a:xfrm>
          <a:prstGeom prst="rect">
            <a:avLst/>
          </a:prstGeom>
          <a:noFill/>
          <a:ln/>
        </p:spPr>
        <p:txBody>
          <a:bodyPr wrap="square" rtlCol="0" anchor="ctr"/>
          <a:lstStyle/>
          <a:p>
            <a:pPr indent="0" marL="0">
              <a:buNone/>
            </a:pPr>
            <a:r>
              <a:rPr lang="en-US" sz="800" b="1" dirty="0">
                <a:solidFill>
                  <a:srgbClr val="6B7280"/>
                </a:solidFill>
              </a:rPr>
              <a:t>Chunks retrieved (top-3 by combined BM25+vector score):</a:t>
            </a:r>
            <a:endParaRPr lang="en-US" sz="800" dirty="0"/>
          </a:p>
        </p:txBody>
      </p:sp>
      <p:sp>
        <p:nvSpPr>
          <p:cNvPr id="13" name="Shape 11"/>
          <p:cNvSpPr/>
          <p:nvPr/>
        </p:nvSpPr>
        <p:spPr>
          <a:xfrm>
            <a:off x="320040" y="2084832"/>
            <a:ext cx="4041648" cy="347472"/>
          </a:xfrm>
          <a:prstGeom prst="rect">
            <a:avLst/>
          </a:prstGeom>
          <a:solidFill>
            <a:srgbClr val="FFFFFF"/>
          </a:solidFill>
          <a:ln w="6350">
            <a:solidFill>
              <a:srgbClr val="D1D5DB"/>
            </a:solidFill>
            <a:prstDash val="solid"/>
          </a:ln>
        </p:spPr>
      </p:sp>
      <p:sp>
        <p:nvSpPr>
          <p:cNvPr id="14" name="Text 12"/>
          <p:cNvSpPr/>
          <p:nvPr/>
        </p:nvSpPr>
        <p:spPr>
          <a:xfrm>
            <a:off x="384048" y="2103120"/>
            <a:ext cx="3913632" cy="310896"/>
          </a:xfrm>
          <a:prstGeom prst="rect">
            <a:avLst/>
          </a:prstGeom>
          <a:noFill/>
          <a:ln/>
        </p:spPr>
        <p:txBody>
          <a:bodyPr wrap="square" rtlCol="0" anchor="ctr"/>
          <a:lstStyle/>
          <a:p>
            <a:pPr indent="0" marL="0">
              <a:buNone/>
            </a:pPr>
            <a:r>
              <a:rPr lang="en-US" sz="820" dirty="0">
                <a:solidFill>
                  <a:srgbClr val="1F2937"/>
                </a:solidFill>
              </a:rPr>
              <a:t>Chunk #312: 'Elevated column temperature reduces mobile phase viscosity...' (similarity: 0.81)</a:t>
            </a:r>
            <a:endParaRPr lang="en-US" sz="820" dirty="0"/>
          </a:p>
        </p:txBody>
      </p:sp>
      <p:sp>
        <p:nvSpPr>
          <p:cNvPr id="15" name="Shape 13"/>
          <p:cNvSpPr/>
          <p:nvPr/>
        </p:nvSpPr>
        <p:spPr>
          <a:xfrm>
            <a:off x="320040" y="2496312"/>
            <a:ext cx="4041648" cy="347472"/>
          </a:xfrm>
          <a:prstGeom prst="rect">
            <a:avLst/>
          </a:prstGeom>
          <a:solidFill>
            <a:srgbClr val="FFFFFF"/>
          </a:solidFill>
          <a:ln w="6350">
            <a:solidFill>
              <a:srgbClr val="D1D5DB"/>
            </a:solidFill>
            <a:prstDash val="solid"/>
          </a:ln>
        </p:spPr>
      </p:sp>
      <p:sp>
        <p:nvSpPr>
          <p:cNvPr id="16" name="Text 14"/>
          <p:cNvSpPr/>
          <p:nvPr/>
        </p:nvSpPr>
        <p:spPr>
          <a:xfrm>
            <a:off x="384048" y="2514600"/>
            <a:ext cx="3913632" cy="310896"/>
          </a:xfrm>
          <a:prstGeom prst="rect">
            <a:avLst/>
          </a:prstGeom>
          <a:noFill/>
          <a:ln/>
        </p:spPr>
        <p:txBody>
          <a:bodyPr wrap="square" rtlCol="0" anchor="ctr"/>
          <a:lstStyle/>
          <a:p>
            <a:pPr indent="0" marL="0">
              <a:buNone/>
            </a:pPr>
            <a:r>
              <a:rPr lang="en-US" sz="820" dirty="0">
                <a:solidFill>
                  <a:srgbClr val="1F2937"/>
                </a:solidFill>
              </a:rPr>
              <a:t>Chunk #418: 'Thermally labile compounds should be separated at ambient...' (similarity: 0.74)</a:t>
            </a:r>
            <a:endParaRPr lang="en-US" sz="820" dirty="0"/>
          </a:p>
        </p:txBody>
      </p:sp>
      <p:sp>
        <p:nvSpPr>
          <p:cNvPr id="17" name="Shape 15"/>
          <p:cNvSpPr/>
          <p:nvPr/>
        </p:nvSpPr>
        <p:spPr>
          <a:xfrm>
            <a:off x="320040" y="2907792"/>
            <a:ext cx="4041648" cy="347472"/>
          </a:xfrm>
          <a:prstGeom prst="rect">
            <a:avLst/>
          </a:prstGeom>
          <a:solidFill>
            <a:srgbClr val="FFFFFF"/>
          </a:solidFill>
          <a:ln w="6350">
            <a:solidFill>
              <a:srgbClr val="D1D5DB"/>
            </a:solidFill>
            <a:prstDash val="solid"/>
          </a:ln>
        </p:spPr>
      </p:sp>
      <p:sp>
        <p:nvSpPr>
          <p:cNvPr id="18" name="Text 16"/>
          <p:cNvSpPr/>
          <p:nvPr/>
        </p:nvSpPr>
        <p:spPr>
          <a:xfrm>
            <a:off x="384048" y="2926080"/>
            <a:ext cx="3913632" cy="310896"/>
          </a:xfrm>
          <a:prstGeom prst="rect">
            <a:avLst/>
          </a:prstGeom>
          <a:noFill/>
          <a:ln/>
        </p:spPr>
        <p:txBody>
          <a:bodyPr wrap="square" rtlCol="0" anchor="ctr"/>
          <a:lstStyle/>
          <a:p>
            <a:pPr indent="0" marL="0">
              <a:buNone/>
            </a:pPr>
            <a:r>
              <a:rPr lang="en-US" sz="820" dirty="0">
                <a:solidFill>
                  <a:srgbClr val="1F2937"/>
                </a:solidFill>
              </a:rPr>
              <a:t>Chunk #089: 'Temperature effects on retention factor k show 1–2% decrease per °C...' (similarity: 0.71)</a:t>
            </a:r>
            <a:endParaRPr lang="en-US" sz="820" dirty="0"/>
          </a:p>
        </p:txBody>
      </p:sp>
      <p:sp>
        <p:nvSpPr>
          <p:cNvPr id="19" name="Shape 17"/>
          <p:cNvSpPr/>
          <p:nvPr/>
        </p:nvSpPr>
        <p:spPr>
          <a:xfrm>
            <a:off x="274320" y="3364992"/>
            <a:ext cx="4114800" cy="1143000"/>
          </a:xfrm>
          <a:prstGeom prst="rect">
            <a:avLst/>
          </a:prstGeom>
          <a:solidFill>
            <a:srgbClr val="FFFFFF"/>
          </a:solidFill>
          <a:ln w="6350">
            <a:solidFill>
              <a:srgbClr val="D1D5DB"/>
            </a:solidFill>
            <a:prstDash val="solid"/>
          </a:ln>
        </p:spPr>
      </p:sp>
      <p:sp>
        <p:nvSpPr>
          <p:cNvPr id="20" name="Text 18"/>
          <p:cNvSpPr/>
          <p:nvPr/>
        </p:nvSpPr>
        <p:spPr>
          <a:xfrm>
            <a:off x="347472" y="3401568"/>
            <a:ext cx="3931920" cy="201168"/>
          </a:xfrm>
          <a:prstGeom prst="rect">
            <a:avLst/>
          </a:prstGeom>
          <a:noFill/>
          <a:ln/>
        </p:spPr>
        <p:txBody>
          <a:bodyPr wrap="square" rtlCol="0" anchor="ctr"/>
          <a:lstStyle/>
          <a:p>
            <a:pPr indent="0" marL="0">
              <a:buNone/>
            </a:pPr>
            <a:r>
              <a:rPr lang="en-US" sz="750" b="1" dirty="0">
                <a:solidFill>
                  <a:srgbClr val="6B7280"/>
                </a:solidFill>
              </a:rPr>
              <a:t>ANSWER GENERATED:</a:t>
            </a:r>
            <a:endParaRPr lang="en-US" sz="750" dirty="0"/>
          </a:p>
        </p:txBody>
      </p:sp>
      <p:sp>
        <p:nvSpPr>
          <p:cNvPr id="21" name="Text 19"/>
          <p:cNvSpPr/>
          <p:nvPr/>
        </p:nvSpPr>
        <p:spPr>
          <a:xfrm>
            <a:off x="347472" y="3611880"/>
            <a:ext cx="3931920" cy="804672"/>
          </a:xfrm>
          <a:prstGeom prst="rect">
            <a:avLst/>
          </a:prstGeom>
          <a:noFill/>
          <a:ln/>
        </p:spPr>
        <p:txBody>
          <a:bodyPr wrap="square" rtlCol="0" anchor="ctr"/>
          <a:lstStyle/>
          <a:p>
            <a:pPr indent="0" marL="0">
              <a:buNone/>
            </a:pPr>
            <a:r>
              <a:rPr lang="en-US" sz="900" i="1" dirty="0">
                <a:solidFill>
                  <a:srgbClr val="1F2937"/>
                </a:solidFill>
              </a:rPr>
              <a:t>"Higher temperature reduces viscosity, improving mass transfer </a:t>
            </a:r>
            <a:pPr indent="0" marL="0">
              <a:buNone/>
            </a:pPr>
            <a:r>
              <a:rPr lang="en-US" sz="900" b="1" i="1" dirty="0">
                <a:solidFill>
                  <a:srgbClr val="1F2937"/>
                </a:solidFill>
              </a:rPr>
              <a:t>(C-term decreases)</a:t>
            </a:r>
            <a:pPr indent="0" marL="0">
              <a:buNone/>
            </a:pPr>
            <a:r>
              <a:rPr lang="en-US" sz="900" i="1" dirty="0">
                <a:solidFill>
                  <a:srgbClr val="1F2937"/>
                </a:solidFill>
              </a:rPr>
              <a:t> and sharpening peaks. However, for thermally labile compounds, </a:t>
            </a:r>
            <a:pPr indent="0" marL="0">
              <a:buNone/>
            </a:pPr>
            <a:r>
              <a:rPr lang="en-US" sz="900" b="1" i="1" dirty="0">
                <a:solidFill>
                  <a:srgbClr val="1F2937"/>
                </a:solidFill>
              </a:rPr>
              <a:t>degradation risk increases above 40°C."</a:t>
            </a:r>
            <a:endParaRPr lang="en-US" sz="900" dirty="0"/>
          </a:p>
        </p:txBody>
      </p:sp>
      <p:sp>
        <p:nvSpPr>
          <p:cNvPr id="22" name="Text 20"/>
          <p:cNvSpPr/>
          <p:nvPr/>
        </p:nvSpPr>
        <p:spPr>
          <a:xfrm>
            <a:off x="274320" y="4572000"/>
            <a:ext cx="4206240" cy="329184"/>
          </a:xfrm>
          <a:prstGeom prst="rect">
            <a:avLst/>
          </a:prstGeom>
          <a:noFill/>
          <a:ln/>
        </p:spPr>
        <p:txBody>
          <a:bodyPr wrap="square" rtlCol="0" anchor="ctr"/>
          <a:lstStyle/>
          <a:p>
            <a:pPr indent="0" marL="0">
              <a:buNone/>
            </a:pPr>
            <a:r>
              <a:rPr lang="en-US" sz="800" dirty="0">
                <a:solidFill>
                  <a:srgbClr val="D97706"/>
                </a:solidFill>
              </a:rPr>
              <a:t>⚠  Missing: quantitative threshold (which temp?), specific compounds at risk, Van Deemter equation link. Hop 2 (trade-off mechanistic detail) not retrieved — chunks not linked.</a:t>
            </a:r>
            <a:endParaRPr lang="en-US" sz="800" dirty="0"/>
          </a:p>
        </p:txBody>
      </p:sp>
      <p:sp>
        <p:nvSpPr>
          <p:cNvPr id="23" name="Shape 21"/>
          <p:cNvSpPr/>
          <p:nvPr/>
        </p:nvSpPr>
        <p:spPr>
          <a:xfrm>
            <a:off x="4663440" y="1463040"/>
            <a:ext cx="4251960" cy="3364992"/>
          </a:xfrm>
          <a:prstGeom prst="rect">
            <a:avLst/>
          </a:prstGeom>
          <a:solidFill>
            <a:srgbClr val="EDE8F7"/>
          </a:solidFill>
          <a:ln w="19050">
            <a:solidFill>
              <a:srgbClr val="7C5CBF"/>
            </a:solidFill>
            <a:prstDash val="solid"/>
          </a:ln>
        </p:spPr>
      </p:sp>
      <p:sp>
        <p:nvSpPr>
          <p:cNvPr id="24" name="Shape 22"/>
          <p:cNvSpPr/>
          <p:nvPr/>
        </p:nvSpPr>
        <p:spPr>
          <a:xfrm>
            <a:off x="4663440" y="1463040"/>
            <a:ext cx="4251960" cy="45720"/>
          </a:xfrm>
          <a:prstGeom prst="rect">
            <a:avLst/>
          </a:prstGeom>
          <a:solidFill>
            <a:srgbClr val="7C5CBF"/>
          </a:solidFill>
          <a:ln/>
        </p:spPr>
      </p:sp>
      <p:sp>
        <p:nvSpPr>
          <p:cNvPr id="25" name="Shape 23"/>
          <p:cNvSpPr/>
          <p:nvPr/>
        </p:nvSpPr>
        <p:spPr>
          <a:xfrm>
            <a:off x="4754880" y="1536192"/>
            <a:ext cx="1920240" cy="256032"/>
          </a:xfrm>
          <a:prstGeom prst="rect">
            <a:avLst/>
          </a:prstGeom>
          <a:solidFill>
            <a:srgbClr val="7C5CBF"/>
          </a:solidFill>
          <a:ln/>
        </p:spPr>
      </p:sp>
      <p:sp>
        <p:nvSpPr>
          <p:cNvPr id="26" name="Text 24"/>
          <p:cNvSpPr/>
          <p:nvPr/>
        </p:nvSpPr>
        <p:spPr>
          <a:xfrm>
            <a:off x="4754880" y="1536192"/>
            <a:ext cx="1920240" cy="256032"/>
          </a:xfrm>
          <a:prstGeom prst="rect">
            <a:avLst/>
          </a:prstGeom>
          <a:noFill/>
          <a:ln/>
        </p:spPr>
        <p:txBody>
          <a:bodyPr wrap="square" lIns="0" tIns="0" rIns="0" bIns="0" rtlCol="0" anchor="ctr"/>
          <a:lstStyle/>
          <a:p>
            <a:pPr algn="ctr" indent="0" marL="0">
              <a:buNone/>
            </a:pPr>
            <a:r>
              <a:rPr lang="en-US" sz="800" b="1" dirty="0">
                <a:solidFill>
                  <a:srgbClr val="FFFFFF"/>
                </a:solidFill>
              </a:rPr>
              <a:t>OG-RAG + PIKE-RAG</a:t>
            </a:r>
            <a:endParaRPr lang="en-US" sz="800" dirty="0"/>
          </a:p>
        </p:txBody>
      </p:sp>
      <p:sp>
        <p:nvSpPr>
          <p:cNvPr id="27" name="Text 25"/>
          <p:cNvSpPr/>
          <p:nvPr/>
        </p:nvSpPr>
        <p:spPr>
          <a:xfrm>
            <a:off x="4773168" y="1828800"/>
            <a:ext cx="4041648" cy="237744"/>
          </a:xfrm>
          <a:prstGeom prst="rect">
            <a:avLst/>
          </a:prstGeom>
          <a:noFill/>
          <a:ln/>
        </p:spPr>
        <p:txBody>
          <a:bodyPr wrap="square" rtlCol="0" anchor="ctr"/>
          <a:lstStyle/>
          <a:p>
            <a:pPr indent="0" marL="0">
              <a:buNone/>
            </a:pPr>
            <a:r>
              <a:rPr lang="en-US" sz="800" b="1" dirty="0">
                <a:solidFill>
                  <a:srgbClr val="6B7280"/>
                </a:solidFill>
              </a:rPr>
              <a:t>PIKE-RAG decomposes into 2 atomic sub-queries:</a:t>
            </a:r>
            <a:endParaRPr lang="en-US" sz="800" dirty="0"/>
          </a:p>
        </p:txBody>
      </p:sp>
      <p:sp>
        <p:nvSpPr>
          <p:cNvPr id="28" name="Shape 26"/>
          <p:cNvSpPr/>
          <p:nvPr/>
        </p:nvSpPr>
        <p:spPr>
          <a:xfrm>
            <a:off x="4736592" y="2084832"/>
            <a:ext cx="4041648" cy="438912"/>
          </a:xfrm>
          <a:prstGeom prst="rect">
            <a:avLst/>
          </a:prstGeom>
          <a:solidFill>
            <a:srgbClr val="FFFFFF"/>
          </a:solidFill>
          <a:ln w="10160">
            <a:solidFill>
              <a:srgbClr val="7C5CBF"/>
            </a:solidFill>
            <a:prstDash val="solid"/>
          </a:ln>
        </p:spPr>
      </p:sp>
      <p:sp>
        <p:nvSpPr>
          <p:cNvPr id="29" name="Shape 27"/>
          <p:cNvSpPr/>
          <p:nvPr/>
        </p:nvSpPr>
        <p:spPr>
          <a:xfrm>
            <a:off x="4736592" y="2084832"/>
            <a:ext cx="658368" cy="256032"/>
          </a:xfrm>
          <a:prstGeom prst="rect">
            <a:avLst/>
          </a:prstGeom>
          <a:solidFill>
            <a:srgbClr val="7C5CBF"/>
          </a:solidFill>
          <a:ln/>
        </p:spPr>
      </p:sp>
      <p:sp>
        <p:nvSpPr>
          <p:cNvPr id="30" name="Text 28"/>
          <p:cNvSpPr/>
          <p:nvPr/>
        </p:nvSpPr>
        <p:spPr>
          <a:xfrm>
            <a:off x="4736592" y="2084832"/>
            <a:ext cx="658368" cy="256032"/>
          </a:xfrm>
          <a:prstGeom prst="rect">
            <a:avLst/>
          </a:prstGeom>
          <a:noFill/>
          <a:ln/>
        </p:spPr>
        <p:txBody>
          <a:bodyPr wrap="square" lIns="0" tIns="0" rIns="0" bIns="0" rtlCol="0" anchor="ctr"/>
          <a:lstStyle/>
          <a:p>
            <a:pPr algn="ctr" indent="0" marL="0">
              <a:buNone/>
            </a:pPr>
            <a:r>
              <a:rPr lang="en-US" sz="750" b="1" dirty="0">
                <a:solidFill>
                  <a:srgbClr val="FFFFFF"/>
                </a:solidFill>
              </a:rPr>
              <a:t>Sub-Q 1</a:t>
            </a:r>
            <a:endParaRPr lang="en-US" sz="750" dirty="0"/>
          </a:p>
        </p:txBody>
      </p:sp>
      <p:sp>
        <p:nvSpPr>
          <p:cNvPr id="31" name="Text 29"/>
          <p:cNvSpPr/>
          <p:nvPr/>
        </p:nvSpPr>
        <p:spPr>
          <a:xfrm>
            <a:off x="5440680" y="2084832"/>
            <a:ext cx="3246120" cy="274320"/>
          </a:xfrm>
          <a:prstGeom prst="rect">
            <a:avLst/>
          </a:prstGeom>
          <a:noFill/>
          <a:ln/>
        </p:spPr>
        <p:txBody>
          <a:bodyPr wrap="square" rtlCol="0" anchor="ctr"/>
          <a:lstStyle/>
          <a:p>
            <a:pPr indent="0" marL="0">
              <a:buNone/>
            </a:pPr>
            <a:r>
              <a:rPr lang="en-US" sz="820" dirty="0">
                <a:solidFill>
                  <a:srgbClr val="1F2937"/>
                </a:solidFill>
              </a:rPr>
              <a:t>Temperature → viscosity → C-term → peak shape (causal chain)</a:t>
            </a:r>
            <a:endParaRPr lang="en-US" sz="820" dirty="0"/>
          </a:p>
        </p:txBody>
      </p:sp>
      <p:sp>
        <p:nvSpPr>
          <p:cNvPr id="32" name="Text 30"/>
          <p:cNvSpPr/>
          <p:nvPr/>
        </p:nvSpPr>
        <p:spPr>
          <a:xfrm>
            <a:off x="4773168" y="2304288"/>
            <a:ext cx="3913632" cy="182880"/>
          </a:xfrm>
          <a:prstGeom prst="rect">
            <a:avLst/>
          </a:prstGeom>
          <a:noFill/>
          <a:ln/>
        </p:spPr>
        <p:txBody>
          <a:bodyPr wrap="square" rtlCol="0" anchor="ctr"/>
          <a:lstStyle/>
          <a:p>
            <a:pPr indent="0" marL="0">
              <a:buNone/>
            </a:pPr>
            <a:r>
              <a:rPr lang="en-US" sz="750" i="1" dirty="0">
                <a:solidFill>
                  <a:srgbClr val="7C5CBF"/>
                </a:solidFill>
              </a:rPr>
              <a:t>→ retrieves HE-031 + HE-008</a:t>
            </a:r>
            <a:endParaRPr lang="en-US" sz="750" dirty="0"/>
          </a:p>
        </p:txBody>
      </p:sp>
      <p:sp>
        <p:nvSpPr>
          <p:cNvPr id="33" name="Shape 31"/>
          <p:cNvSpPr/>
          <p:nvPr/>
        </p:nvSpPr>
        <p:spPr>
          <a:xfrm>
            <a:off x="4736592" y="2587752"/>
            <a:ext cx="4041648" cy="438912"/>
          </a:xfrm>
          <a:prstGeom prst="rect">
            <a:avLst/>
          </a:prstGeom>
          <a:solidFill>
            <a:srgbClr val="FFFFFF"/>
          </a:solidFill>
          <a:ln w="10160">
            <a:solidFill>
              <a:srgbClr val="7C5CBF"/>
            </a:solidFill>
            <a:prstDash val="solid"/>
          </a:ln>
        </p:spPr>
      </p:sp>
      <p:sp>
        <p:nvSpPr>
          <p:cNvPr id="34" name="Shape 32"/>
          <p:cNvSpPr/>
          <p:nvPr/>
        </p:nvSpPr>
        <p:spPr>
          <a:xfrm>
            <a:off x="4736592" y="2587752"/>
            <a:ext cx="658368" cy="256032"/>
          </a:xfrm>
          <a:prstGeom prst="rect">
            <a:avLst/>
          </a:prstGeom>
          <a:solidFill>
            <a:srgbClr val="7C5CBF"/>
          </a:solidFill>
          <a:ln/>
        </p:spPr>
      </p:sp>
      <p:sp>
        <p:nvSpPr>
          <p:cNvPr id="35" name="Text 33"/>
          <p:cNvSpPr/>
          <p:nvPr/>
        </p:nvSpPr>
        <p:spPr>
          <a:xfrm>
            <a:off x="4736592" y="2587752"/>
            <a:ext cx="658368" cy="256032"/>
          </a:xfrm>
          <a:prstGeom prst="rect">
            <a:avLst/>
          </a:prstGeom>
          <a:noFill/>
          <a:ln/>
        </p:spPr>
        <p:txBody>
          <a:bodyPr wrap="square" lIns="0" tIns="0" rIns="0" bIns="0" rtlCol="0" anchor="ctr"/>
          <a:lstStyle/>
          <a:p>
            <a:pPr algn="ctr" indent="0" marL="0">
              <a:buNone/>
            </a:pPr>
            <a:r>
              <a:rPr lang="en-US" sz="750" b="1" dirty="0">
                <a:solidFill>
                  <a:srgbClr val="FFFFFF"/>
                </a:solidFill>
              </a:rPr>
              <a:t>Sub-Q 2</a:t>
            </a:r>
            <a:endParaRPr lang="en-US" sz="750" dirty="0"/>
          </a:p>
        </p:txBody>
      </p:sp>
      <p:sp>
        <p:nvSpPr>
          <p:cNvPr id="36" name="Text 34"/>
          <p:cNvSpPr/>
          <p:nvPr/>
        </p:nvSpPr>
        <p:spPr>
          <a:xfrm>
            <a:off x="5440680" y="2587752"/>
            <a:ext cx="3246120" cy="274320"/>
          </a:xfrm>
          <a:prstGeom prst="rect">
            <a:avLst/>
          </a:prstGeom>
          <a:noFill/>
          <a:ln/>
        </p:spPr>
        <p:txBody>
          <a:bodyPr wrap="square" rtlCol="0" anchor="ctr"/>
          <a:lstStyle/>
          <a:p>
            <a:pPr indent="0" marL="0">
              <a:buNone/>
            </a:pPr>
            <a:r>
              <a:rPr lang="en-US" sz="820" dirty="0">
                <a:solidFill>
                  <a:srgbClr val="1F2937"/>
                </a:solidFill>
              </a:rPr>
              <a:t>Thermally labile compounds + temp threshold + degradation risk</a:t>
            </a:r>
            <a:endParaRPr lang="en-US" sz="820" dirty="0"/>
          </a:p>
        </p:txBody>
      </p:sp>
      <p:sp>
        <p:nvSpPr>
          <p:cNvPr id="37" name="Text 35"/>
          <p:cNvSpPr/>
          <p:nvPr/>
        </p:nvSpPr>
        <p:spPr>
          <a:xfrm>
            <a:off x="4773168" y="2807208"/>
            <a:ext cx="3913632" cy="182880"/>
          </a:xfrm>
          <a:prstGeom prst="rect">
            <a:avLst/>
          </a:prstGeom>
          <a:noFill/>
          <a:ln/>
        </p:spPr>
        <p:txBody>
          <a:bodyPr wrap="square" rtlCol="0" anchor="ctr"/>
          <a:lstStyle/>
          <a:p>
            <a:pPr indent="0" marL="0">
              <a:buNone/>
            </a:pPr>
            <a:r>
              <a:rPr lang="en-US" sz="750" i="1" dirty="0">
                <a:solidFill>
                  <a:srgbClr val="7C5CBF"/>
                </a:solidFill>
              </a:rPr>
              <a:t>→ retrieves HE-055 + HE-019</a:t>
            </a:r>
            <a:endParaRPr lang="en-US" sz="750" dirty="0"/>
          </a:p>
        </p:txBody>
      </p:sp>
      <p:sp>
        <p:nvSpPr>
          <p:cNvPr id="38" name="Shape 36"/>
          <p:cNvSpPr/>
          <p:nvPr/>
        </p:nvSpPr>
        <p:spPr>
          <a:xfrm>
            <a:off x="4709160" y="3154680"/>
            <a:ext cx="4114800" cy="1353312"/>
          </a:xfrm>
          <a:prstGeom prst="rect">
            <a:avLst/>
          </a:prstGeom>
          <a:solidFill>
            <a:srgbClr val="FFFFFF"/>
          </a:solidFill>
          <a:ln w="10160">
            <a:solidFill>
              <a:srgbClr val="7C5CBF"/>
            </a:solidFill>
            <a:prstDash val="solid"/>
          </a:ln>
        </p:spPr>
      </p:sp>
      <p:sp>
        <p:nvSpPr>
          <p:cNvPr id="39" name="Text 37"/>
          <p:cNvSpPr/>
          <p:nvPr/>
        </p:nvSpPr>
        <p:spPr>
          <a:xfrm>
            <a:off x="4773168" y="3191256"/>
            <a:ext cx="3931920" cy="201168"/>
          </a:xfrm>
          <a:prstGeom prst="rect">
            <a:avLst/>
          </a:prstGeom>
          <a:noFill/>
          <a:ln/>
        </p:spPr>
        <p:txBody>
          <a:bodyPr wrap="square" rtlCol="0" anchor="ctr"/>
          <a:lstStyle/>
          <a:p>
            <a:pPr indent="0" marL="0">
              <a:buNone/>
            </a:pPr>
            <a:r>
              <a:rPr lang="en-US" sz="750" b="1" dirty="0">
                <a:solidFill>
                  <a:srgbClr val="6B7280"/>
                </a:solidFill>
              </a:rPr>
              <a:t>ANSWER GENERATED:</a:t>
            </a:r>
            <a:endParaRPr lang="en-US" sz="750" dirty="0"/>
          </a:p>
        </p:txBody>
      </p:sp>
      <p:sp>
        <p:nvSpPr>
          <p:cNvPr id="40" name="Text 38"/>
          <p:cNvSpPr/>
          <p:nvPr/>
        </p:nvSpPr>
        <p:spPr>
          <a:xfrm>
            <a:off x="4773168" y="3410712"/>
            <a:ext cx="3931920" cy="1024128"/>
          </a:xfrm>
          <a:prstGeom prst="rect">
            <a:avLst/>
          </a:prstGeom>
          <a:noFill/>
          <a:ln/>
        </p:spPr>
        <p:txBody>
          <a:bodyPr wrap="square" rtlCol="0" anchor="ctr"/>
          <a:lstStyle/>
          <a:p>
            <a:pPr indent="0" marL="0">
              <a:buNone/>
            </a:pPr>
            <a:r>
              <a:rPr lang="en-US" sz="880" i="1" dirty="0">
                <a:solidFill>
                  <a:srgbClr val="1F2937"/>
                </a:solidFill>
              </a:rPr>
              <a:t>"Temperature increases reduce mobile phase viscosity, directly lowering the C-term in H = A + B/u + Cu, sharpening peaks at u_opt </a:t>
            </a:r>
            <a:pPr indent="0" marL="0">
              <a:buNone/>
            </a:pPr>
            <a:r>
              <a:rPr lang="en-US" sz="880" i="1" dirty="0">
                <a:solidFill>
                  <a:srgbClr val="7C5CBF"/>
                </a:solidFill>
              </a:rPr>
              <a:t>[HE-031, Ch.4 p.112]</a:t>
            </a:r>
            <a:pPr indent="0" marL="0">
              <a:buNone/>
            </a:pPr>
            <a:r>
              <a:rPr lang="en-US" sz="880" i="1" dirty="0">
                <a:solidFill>
                  <a:srgbClr val="1F2937"/>
                </a:solidFill>
              </a:rPr>
              <a:t>. For compounds with degradation onset below </a:t>
            </a:r>
            <a:pPr indent="0" marL="0">
              <a:buNone/>
            </a:pPr>
            <a:r>
              <a:rPr lang="en-US" sz="880" b="1" i="1" dirty="0">
                <a:solidFill>
                  <a:srgbClr val="1F2937"/>
                </a:solidFill>
              </a:rPr>
              <a:t>45°C (e.g. aspirin, methotrexate)</a:t>
            </a:r>
            <a:pPr indent="0" marL="0">
              <a:buNone/>
            </a:pPr>
            <a:r>
              <a:rPr lang="en-US" sz="880" i="1" dirty="0">
                <a:solidFill>
                  <a:srgbClr val="1F2937"/>
                </a:solidFill>
              </a:rPr>
              <a:t>, column temp must stay ≤30°C, accepting broader peaks as the trade-off </a:t>
            </a:r>
            <a:pPr indent="0" marL="0">
              <a:buNone/>
            </a:pPr>
            <a:r>
              <a:rPr lang="en-US" sz="880" i="1" dirty="0">
                <a:solidFill>
                  <a:srgbClr val="7C5CBF"/>
                </a:solidFill>
              </a:rPr>
              <a:t>[HE-055, Ch.9 p.287]."</a:t>
            </a:r>
            <a:endParaRPr lang="en-US" sz="880" dirty="0"/>
          </a:p>
        </p:txBody>
      </p:sp>
      <p:sp>
        <p:nvSpPr>
          <p:cNvPr id="41" name="Text 39"/>
          <p:cNvSpPr/>
          <p:nvPr/>
        </p:nvSpPr>
        <p:spPr>
          <a:xfrm>
            <a:off x="4663440" y="4572000"/>
            <a:ext cx="4206240" cy="329184"/>
          </a:xfrm>
          <a:prstGeom prst="rect">
            <a:avLst/>
          </a:prstGeom>
          <a:noFill/>
          <a:ln/>
        </p:spPr>
        <p:txBody>
          <a:bodyPr wrap="square" rtlCol="0" anchor="ctr"/>
          <a:lstStyle/>
          <a:p>
            <a:pPr indent="0" marL="0">
              <a:buNone/>
            </a:pPr>
            <a:r>
              <a:rPr lang="en-US" sz="800" b="1" dirty="0">
                <a:solidFill>
                  <a:srgbClr val="7C5CBF"/>
                </a:solidFill>
              </a:rPr>
              <a:t>✓  Both hops answered. Specific compounds named. Temperature threshold cited. Every claim linked to hyperedge source.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C5CBF"/>
          </a:solidFill>
          <a:ln/>
        </p:spPr>
      </p:sp>
      <p:sp>
        <p:nvSpPr>
          <p:cNvPr id="3" name="Shape 1"/>
          <p:cNvSpPr/>
          <p:nvPr/>
        </p:nvSpPr>
        <p:spPr>
          <a:xfrm>
            <a:off x="0" y="5074920"/>
            <a:ext cx="9144000" cy="68580"/>
          </a:xfrm>
          <a:prstGeom prst="rect">
            <a:avLst/>
          </a:prstGeom>
          <a:solidFill>
            <a:srgbClr val="7C5CBF"/>
          </a:solidFill>
          <a:ln/>
        </p:spPr>
      </p:sp>
      <p:sp>
        <p:nvSpPr>
          <p:cNvPr id="4" name="Text 2"/>
          <p:cNvSpPr/>
          <p:nvPr/>
        </p:nvSpPr>
        <p:spPr>
          <a:xfrm>
            <a:off x="274320" y="146304"/>
            <a:ext cx="8595360" cy="402336"/>
          </a:xfrm>
          <a:prstGeom prst="rect">
            <a:avLst/>
          </a:prstGeom>
          <a:noFill/>
          <a:ln/>
        </p:spPr>
        <p:txBody>
          <a:bodyPr wrap="square" rtlCol="0" anchor="ctr"/>
          <a:lstStyle/>
          <a:p>
            <a:pPr indent="0" marL="0">
              <a:buNone/>
            </a:pPr>
            <a:r>
              <a:rPr lang="en-US" sz="1500" b="1" dirty="0">
                <a:solidFill>
                  <a:srgbClr val="1F2937"/>
                </a:solidFill>
              </a:rPr>
              <a:t>EXPANDED GRAPH TRAVERSAL — HOW THE ANSWER IS PINPOINTED</a:t>
            </a:r>
            <a:endParaRPr lang="en-US" sz="1500" dirty="0"/>
          </a:p>
        </p:txBody>
      </p:sp>
      <p:sp>
        <p:nvSpPr>
          <p:cNvPr id="5" name="Text 3"/>
          <p:cNvSpPr/>
          <p:nvPr/>
        </p:nvSpPr>
        <p:spPr>
          <a:xfrm>
            <a:off x="274320" y="621792"/>
            <a:ext cx="8595360" cy="274320"/>
          </a:xfrm>
          <a:prstGeom prst="rect">
            <a:avLst/>
          </a:prstGeom>
          <a:noFill/>
          <a:ln/>
        </p:spPr>
        <p:txBody>
          <a:bodyPr wrap="square" rtlCol="0" anchor="ctr"/>
          <a:lstStyle/>
          <a:p>
            <a:pPr indent="0" marL="0">
              <a:buNone/>
            </a:pPr>
            <a:r>
              <a:rPr lang="en-US" sz="850" i="1" dirty="0">
                <a:solidFill>
                  <a:srgbClr val="6B7280"/>
                </a:solidFill>
              </a:rPr>
              <a:t>Query: "What is the optimal flow rate for a C18 column with 50% ACN separating analgesics?"  |  PIKE-RAG decomposes → 3 sub-queries → 3 traversal paths → converge</a:t>
            </a:r>
            <a:endParaRPr lang="en-US" sz="850" dirty="0"/>
          </a:p>
        </p:txBody>
      </p:sp>
      <p:sp>
        <p:nvSpPr>
          <p:cNvPr id="6" name="Shape 4"/>
          <p:cNvSpPr/>
          <p:nvPr/>
        </p:nvSpPr>
        <p:spPr>
          <a:xfrm>
            <a:off x="137160" y="987552"/>
            <a:ext cx="1554480" cy="274320"/>
          </a:xfrm>
          <a:prstGeom prst="rect">
            <a:avLst/>
          </a:prstGeom>
          <a:solidFill>
            <a:srgbClr val="5A3F9A"/>
          </a:solidFill>
          <a:ln/>
        </p:spPr>
      </p:sp>
      <p:sp>
        <p:nvSpPr>
          <p:cNvPr id="7" name="Text 5"/>
          <p:cNvSpPr/>
          <p:nvPr/>
        </p:nvSpPr>
        <p:spPr>
          <a:xfrm>
            <a:off x="137160" y="987552"/>
            <a:ext cx="1554480" cy="274320"/>
          </a:xfrm>
          <a:prstGeom prst="rect">
            <a:avLst/>
          </a:prstGeom>
          <a:noFill/>
          <a:ln/>
        </p:spPr>
        <p:txBody>
          <a:bodyPr wrap="square" lIns="0" tIns="0" rIns="0" bIns="0" rtlCol="0" anchor="ctr"/>
          <a:lstStyle/>
          <a:p>
            <a:pPr algn="ctr" indent="0" marL="0">
              <a:buNone/>
            </a:pPr>
            <a:r>
              <a:rPr lang="en-US" sz="800" b="1" dirty="0">
                <a:solidFill>
                  <a:srgbClr val="FFFFFF"/>
                </a:solidFill>
              </a:rPr>
              <a:t>ANCHOR NODES</a:t>
            </a:r>
            <a:endParaRPr lang="en-US" sz="800" dirty="0"/>
          </a:p>
        </p:txBody>
      </p:sp>
      <p:sp>
        <p:nvSpPr>
          <p:cNvPr id="8" name="Shape 6"/>
          <p:cNvSpPr/>
          <p:nvPr/>
        </p:nvSpPr>
        <p:spPr>
          <a:xfrm>
            <a:off x="182880" y="1371600"/>
            <a:ext cx="1463040" cy="384048"/>
          </a:xfrm>
          <a:prstGeom prst="rect">
            <a:avLst/>
          </a:prstGeom>
          <a:solidFill>
            <a:srgbClr val="EDE8F7"/>
          </a:solidFill>
          <a:ln w="12700">
            <a:solidFill>
              <a:srgbClr val="7C5CBF"/>
            </a:solidFill>
            <a:prstDash val="solid"/>
          </a:ln>
        </p:spPr>
      </p:sp>
      <p:sp>
        <p:nvSpPr>
          <p:cNvPr id="9" name="Text 7"/>
          <p:cNvSpPr/>
          <p:nvPr/>
        </p:nvSpPr>
        <p:spPr>
          <a:xfrm>
            <a:off x="201168" y="1371600"/>
            <a:ext cx="1426464" cy="384048"/>
          </a:xfrm>
          <a:prstGeom prst="rect">
            <a:avLst/>
          </a:prstGeom>
          <a:noFill/>
          <a:ln/>
        </p:spPr>
        <p:txBody>
          <a:bodyPr wrap="square" rtlCol="0" anchor="ctr"/>
          <a:lstStyle/>
          <a:p>
            <a:pPr algn="ctr" indent="0" marL="0">
              <a:buNone/>
            </a:pPr>
            <a:r>
              <a:rPr lang="en-US" sz="820" b="1" dirty="0">
                <a:solidFill>
                  <a:srgbClr val="5A3F9A"/>
                </a:solidFill>
              </a:rPr>
              <a:t>C18_column</a:t>
            </a:r>
            <a:endParaRPr lang="en-US" sz="820" dirty="0"/>
          </a:p>
        </p:txBody>
      </p:sp>
      <p:sp>
        <p:nvSpPr>
          <p:cNvPr id="10" name="Shape 8"/>
          <p:cNvSpPr/>
          <p:nvPr/>
        </p:nvSpPr>
        <p:spPr>
          <a:xfrm>
            <a:off x="182880" y="1901952"/>
            <a:ext cx="1463040" cy="384048"/>
          </a:xfrm>
          <a:prstGeom prst="rect">
            <a:avLst/>
          </a:prstGeom>
          <a:solidFill>
            <a:srgbClr val="EDE8F7"/>
          </a:solidFill>
          <a:ln w="12700">
            <a:solidFill>
              <a:srgbClr val="7C5CBF"/>
            </a:solidFill>
            <a:prstDash val="solid"/>
          </a:ln>
        </p:spPr>
      </p:sp>
      <p:sp>
        <p:nvSpPr>
          <p:cNvPr id="11" name="Text 9"/>
          <p:cNvSpPr/>
          <p:nvPr/>
        </p:nvSpPr>
        <p:spPr>
          <a:xfrm>
            <a:off x="201168" y="1901952"/>
            <a:ext cx="1426464" cy="384048"/>
          </a:xfrm>
          <a:prstGeom prst="rect">
            <a:avLst/>
          </a:prstGeom>
          <a:noFill/>
          <a:ln/>
        </p:spPr>
        <p:txBody>
          <a:bodyPr wrap="square" rtlCol="0" anchor="ctr"/>
          <a:lstStyle/>
          <a:p>
            <a:pPr algn="ctr" indent="0" marL="0">
              <a:buNone/>
            </a:pPr>
            <a:r>
              <a:rPr lang="en-US" sz="820" b="1" dirty="0">
                <a:solidFill>
                  <a:srgbClr val="5A3F9A"/>
                </a:solidFill>
              </a:rPr>
              <a:t>acetonitrile_50pct</a:t>
            </a:r>
            <a:endParaRPr lang="en-US" sz="820" dirty="0"/>
          </a:p>
        </p:txBody>
      </p:sp>
      <p:sp>
        <p:nvSpPr>
          <p:cNvPr id="12" name="Shape 10"/>
          <p:cNvSpPr/>
          <p:nvPr/>
        </p:nvSpPr>
        <p:spPr>
          <a:xfrm>
            <a:off x="182880" y="2432304"/>
            <a:ext cx="1463040" cy="384048"/>
          </a:xfrm>
          <a:prstGeom prst="rect">
            <a:avLst/>
          </a:prstGeom>
          <a:solidFill>
            <a:srgbClr val="EDE8F7"/>
          </a:solidFill>
          <a:ln w="12700">
            <a:solidFill>
              <a:srgbClr val="7C5CBF"/>
            </a:solidFill>
            <a:prstDash val="solid"/>
          </a:ln>
        </p:spPr>
      </p:sp>
      <p:sp>
        <p:nvSpPr>
          <p:cNvPr id="13" name="Text 11"/>
          <p:cNvSpPr/>
          <p:nvPr/>
        </p:nvSpPr>
        <p:spPr>
          <a:xfrm>
            <a:off x="201168" y="2432304"/>
            <a:ext cx="1426464" cy="384048"/>
          </a:xfrm>
          <a:prstGeom prst="rect">
            <a:avLst/>
          </a:prstGeom>
          <a:noFill/>
          <a:ln/>
        </p:spPr>
        <p:txBody>
          <a:bodyPr wrap="square" rtlCol="0" anchor="ctr"/>
          <a:lstStyle/>
          <a:p>
            <a:pPr algn="ctr" indent="0" marL="0">
              <a:buNone/>
            </a:pPr>
            <a:r>
              <a:rPr lang="en-US" sz="820" b="1" dirty="0">
                <a:solidFill>
                  <a:srgbClr val="5A3F9A"/>
                </a:solidFill>
              </a:rPr>
              <a:t>flow_rate</a:t>
            </a:r>
            <a:endParaRPr lang="en-US" sz="820" dirty="0"/>
          </a:p>
        </p:txBody>
      </p:sp>
      <p:sp>
        <p:nvSpPr>
          <p:cNvPr id="14" name="Shape 12"/>
          <p:cNvSpPr/>
          <p:nvPr/>
        </p:nvSpPr>
        <p:spPr>
          <a:xfrm>
            <a:off x="182880" y="2962656"/>
            <a:ext cx="1463040" cy="384048"/>
          </a:xfrm>
          <a:prstGeom prst="rect">
            <a:avLst/>
          </a:prstGeom>
          <a:solidFill>
            <a:srgbClr val="EDE8F7"/>
          </a:solidFill>
          <a:ln w="12700">
            <a:solidFill>
              <a:srgbClr val="7C5CBF"/>
            </a:solidFill>
            <a:prstDash val="solid"/>
          </a:ln>
        </p:spPr>
      </p:sp>
      <p:sp>
        <p:nvSpPr>
          <p:cNvPr id="15" name="Text 13"/>
          <p:cNvSpPr/>
          <p:nvPr/>
        </p:nvSpPr>
        <p:spPr>
          <a:xfrm>
            <a:off x="201168" y="2962656"/>
            <a:ext cx="1426464" cy="384048"/>
          </a:xfrm>
          <a:prstGeom prst="rect">
            <a:avLst/>
          </a:prstGeom>
          <a:noFill/>
          <a:ln/>
        </p:spPr>
        <p:txBody>
          <a:bodyPr wrap="square" rtlCol="0" anchor="ctr"/>
          <a:lstStyle/>
          <a:p>
            <a:pPr algn="ctr" indent="0" marL="0">
              <a:buNone/>
            </a:pPr>
            <a:r>
              <a:rPr lang="en-US" sz="820" b="1" dirty="0">
                <a:solidFill>
                  <a:srgbClr val="5A3F9A"/>
                </a:solidFill>
              </a:rPr>
              <a:t>analgesic_mixture</a:t>
            </a:r>
            <a:endParaRPr lang="en-US" sz="820" dirty="0"/>
          </a:p>
        </p:txBody>
      </p:sp>
      <p:sp>
        <p:nvSpPr>
          <p:cNvPr id="16" name="Shape 14"/>
          <p:cNvSpPr/>
          <p:nvPr/>
        </p:nvSpPr>
        <p:spPr>
          <a:xfrm>
            <a:off x="182880" y="3493008"/>
            <a:ext cx="1463040" cy="384048"/>
          </a:xfrm>
          <a:prstGeom prst="rect">
            <a:avLst/>
          </a:prstGeom>
          <a:solidFill>
            <a:srgbClr val="EDE8F7"/>
          </a:solidFill>
          <a:ln w="12700">
            <a:solidFill>
              <a:srgbClr val="7C5CBF"/>
            </a:solidFill>
            <a:prstDash val="solid"/>
          </a:ln>
        </p:spPr>
      </p:sp>
      <p:sp>
        <p:nvSpPr>
          <p:cNvPr id="17" name="Text 15"/>
          <p:cNvSpPr/>
          <p:nvPr/>
        </p:nvSpPr>
        <p:spPr>
          <a:xfrm>
            <a:off x="201168" y="3493008"/>
            <a:ext cx="1426464" cy="384048"/>
          </a:xfrm>
          <a:prstGeom prst="rect">
            <a:avLst/>
          </a:prstGeom>
          <a:noFill/>
          <a:ln/>
        </p:spPr>
        <p:txBody>
          <a:bodyPr wrap="square" rtlCol="0" anchor="ctr"/>
          <a:lstStyle/>
          <a:p>
            <a:pPr algn="ctr" indent="0" marL="0">
              <a:buNone/>
            </a:pPr>
            <a:r>
              <a:rPr lang="en-US" sz="820" b="1" dirty="0">
                <a:solidFill>
                  <a:srgbClr val="5A3F9A"/>
                </a:solidFill>
              </a:rPr>
              <a:t>Van_Deemter_eqn</a:t>
            </a:r>
            <a:endParaRPr lang="en-US" sz="820" dirty="0"/>
          </a:p>
        </p:txBody>
      </p:sp>
      <p:sp>
        <p:nvSpPr>
          <p:cNvPr id="18" name="Shape 16"/>
          <p:cNvSpPr/>
          <p:nvPr/>
        </p:nvSpPr>
        <p:spPr>
          <a:xfrm>
            <a:off x="182880" y="4023360"/>
            <a:ext cx="1463040" cy="384048"/>
          </a:xfrm>
          <a:prstGeom prst="rect">
            <a:avLst/>
          </a:prstGeom>
          <a:solidFill>
            <a:srgbClr val="EDE8F7"/>
          </a:solidFill>
          <a:ln w="12700">
            <a:solidFill>
              <a:srgbClr val="7C5CBF"/>
            </a:solidFill>
            <a:prstDash val="solid"/>
          </a:ln>
        </p:spPr>
      </p:sp>
      <p:sp>
        <p:nvSpPr>
          <p:cNvPr id="19" name="Text 17"/>
          <p:cNvSpPr/>
          <p:nvPr/>
        </p:nvSpPr>
        <p:spPr>
          <a:xfrm>
            <a:off x="201168" y="4023360"/>
            <a:ext cx="1426464" cy="384048"/>
          </a:xfrm>
          <a:prstGeom prst="rect">
            <a:avLst/>
          </a:prstGeom>
          <a:noFill/>
          <a:ln/>
        </p:spPr>
        <p:txBody>
          <a:bodyPr wrap="square" rtlCol="0" anchor="ctr"/>
          <a:lstStyle/>
          <a:p>
            <a:pPr algn="ctr" indent="0" marL="0">
              <a:buNone/>
            </a:pPr>
            <a:r>
              <a:rPr lang="en-US" sz="820" b="1" dirty="0">
                <a:solidFill>
                  <a:srgbClr val="5A3F9A"/>
                </a:solidFill>
              </a:rPr>
              <a:t>plate_height</a:t>
            </a:r>
            <a:endParaRPr lang="en-US" sz="820" dirty="0"/>
          </a:p>
        </p:txBody>
      </p:sp>
      <p:sp>
        <p:nvSpPr>
          <p:cNvPr id="20" name="Shape 18"/>
          <p:cNvSpPr/>
          <p:nvPr/>
        </p:nvSpPr>
        <p:spPr>
          <a:xfrm>
            <a:off x="1645920" y="1563624"/>
            <a:ext cx="502920" cy="0"/>
          </a:xfrm>
          <a:prstGeom prst="line">
            <a:avLst/>
          </a:prstGeom>
          <a:noFill/>
          <a:ln w="12700">
            <a:solidFill>
              <a:srgbClr val="D1D5DB"/>
            </a:solidFill>
            <a:prstDash val="dash"/>
          </a:ln>
        </p:spPr>
      </p:sp>
      <p:sp>
        <p:nvSpPr>
          <p:cNvPr id="21" name="Shape 19"/>
          <p:cNvSpPr/>
          <p:nvPr/>
        </p:nvSpPr>
        <p:spPr>
          <a:xfrm>
            <a:off x="1645920" y="2093976"/>
            <a:ext cx="502920" cy="0"/>
          </a:xfrm>
          <a:prstGeom prst="line">
            <a:avLst/>
          </a:prstGeom>
          <a:noFill/>
          <a:ln w="12700">
            <a:solidFill>
              <a:srgbClr val="D1D5DB"/>
            </a:solidFill>
            <a:prstDash val="dash"/>
          </a:ln>
        </p:spPr>
      </p:sp>
      <p:sp>
        <p:nvSpPr>
          <p:cNvPr id="22" name="Shape 20"/>
          <p:cNvSpPr/>
          <p:nvPr/>
        </p:nvSpPr>
        <p:spPr>
          <a:xfrm>
            <a:off x="1645920" y="2624328"/>
            <a:ext cx="502920" cy="0"/>
          </a:xfrm>
          <a:prstGeom prst="line">
            <a:avLst/>
          </a:prstGeom>
          <a:noFill/>
          <a:ln w="12700">
            <a:solidFill>
              <a:srgbClr val="D1D5DB"/>
            </a:solidFill>
            <a:prstDash val="dash"/>
          </a:ln>
        </p:spPr>
      </p:sp>
      <p:sp>
        <p:nvSpPr>
          <p:cNvPr id="23" name="Shape 21"/>
          <p:cNvSpPr/>
          <p:nvPr/>
        </p:nvSpPr>
        <p:spPr>
          <a:xfrm>
            <a:off x="1645920" y="3154680"/>
            <a:ext cx="502920" cy="0"/>
          </a:xfrm>
          <a:prstGeom prst="line">
            <a:avLst/>
          </a:prstGeom>
          <a:noFill/>
          <a:ln w="12700">
            <a:solidFill>
              <a:srgbClr val="D1D5DB"/>
            </a:solidFill>
            <a:prstDash val="dash"/>
          </a:ln>
        </p:spPr>
      </p:sp>
      <p:sp>
        <p:nvSpPr>
          <p:cNvPr id="24" name="Shape 22"/>
          <p:cNvSpPr/>
          <p:nvPr/>
        </p:nvSpPr>
        <p:spPr>
          <a:xfrm>
            <a:off x="1645920" y="3685032"/>
            <a:ext cx="502920" cy="0"/>
          </a:xfrm>
          <a:prstGeom prst="line">
            <a:avLst/>
          </a:prstGeom>
          <a:noFill/>
          <a:ln w="12700">
            <a:solidFill>
              <a:srgbClr val="D1D5DB"/>
            </a:solidFill>
            <a:prstDash val="dash"/>
          </a:ln>
        </p:spPr>
      </p:sp>
      <p:sp>
        <p:nvSpPr>
          <p:cNvPr id="25" name="Shape 23"/>
          <p:cNvSpPr/>
          <p:nvPr/>
        </p:nvSpPr>
        <p:spPr>
          <a:xfrm>
            <a:off x="1645920" y="4215384"/>
            <a:ext cx="502920" cy="0"/>
          </a:xfrm>
          <a:prstGeom prst="line">
            <a:avLst/>
          </a:prstGeom>
          <a:noFill/>
          <a:ln w="12700">
            <a:solidFill>
              <a:srgbClr val="D1D5DB"/>
            </a:solidFill>
            <a:prstDash val="dash"/>
          </a:ln>
        </p:spPr>
      </p:sp>
      <p:sp>
        <p:nvSpPr>
          <p:cNvPr id="26" name="Shape 24"/>
          <p:cNvSpPr/>
          <p:nvPr/>
        </p:nvSpPr>
        <p:spPr>
          <a:xfrm>
            <a:off x="2148840" y="987552"/>
            <a:ext cx="1828800" cy="274320"/>
          </a:xfrm>
          <a:prstGeom prst="rect">
            <a:avLst/>
          </a:prstGeom>
          <a:solidFill>
            <a:srgbClr val="5A3F9A"/>
          </a:solidFill>
          <a:ln/>
        </p:spPr>
      </p:sp>
      <p:sp>
        <p:nvSpPr>
          <p:cNvPr id="27" name="Text 25"/>
          <p:cNvSpPr/>
          <p:nvPr/>
        </p:nvSpPr>
        <p:spPr>
          <a:xfrm>
            <a:off x="2148840" y="987552"/>
            <a:ext cx="1828800" cy="274320"/>
          </a:xfrm>
          <a:prstGeom prst="rect">
            <a:avLst/>
          </a:prstGeom>
          <a:noFill/>
          <a:ln/>
        </p:spPr>
        <p:txBody>
          <a:bodyPr wrap="square" lIns="0" tIns="0" rIns="0" bIns="0" rtlCol="0" anchor="ctr"/>
          <a:lstStyle/>
          <a:p>
            <a:pPr algn="ctr" indent="0" marL="0">
              <a:buNone/>
            </a:pPr>
            <a:r>
              <a:rPr lang="en-US" sz="800" b="1" dirty="0">
                <a:solidFill>
                  <a:srgbClr val="FFFFFF"/>
                </a:solidFill>
              </a:rPr>
              <a:t>GRAPH EXPANSION (EDGES)</a:t>
            </a:r>
            <a:endParaRPr lang="en-US" sz="800" dirty="0"/>
          </a:p>
        </p:txBody>
      </p:sp>
      <p:sp>
        <p:nvSpPr>
          <p:cNvPr id="28" name="Shape 26"/>
          <p:cNvSpPr/>
          <p:nvPr/>
        </p:nvSpPr>
        <p:spPr>
          <a:xfrm>
            <a:off x="2194560" y="1353312"/>
            <a:ext cx="1737360" cy="438912"/>
          </a:xfrm>
          <a:prstGeom prst="rect">
            <a:avLst/>
          </a:prstGeom>
          <a:solidFill>
            <a:srgbClr val="FFFFFF"/>
          </a:solidFill>
          <a:ln w="10160">
            <a:solidFill>
              <a:srgbClr val="7C5CBF"/>
            </a:solidFill>
            <a:prstDash val="solid"/>
          </a:ln>
        </p:spPr>
      </p:sp>
      <p:sp>
        <p:nvSpPr>
          <p:cNvPr id="29" name="Text 27"/>
          <p:cNvSpPr/>
          <p:nvPr/>
        </p:nvSpPr>
        <p:spPr>
          <a:xfrm>
            <a:off x="2231136" y="1371600"/>
            <a:ext cx="1664208" cy="402336"/>
          </a:xfrm>
          <a:prstGeom prst="rect">
            <a:avLst/>
          </a:prstGeom>
          <a:noFill/>
          <a:ln/>
        </p:spPr>
        <p:txBody>
          <a:bodyPr wrap="square" rtlCol="0" anchor="ctr"/>
          <a:lstStyle/>
          <a:p>
            <a:pPr indent="0" marL="0">
              <a:buNone/>
            </a:pPr>
            <a:r>
              <a:rPr lang="en-US" sz="780" dirty="0">
                <a:solidFill>
                  <a:srgbClr val="1F2937"/>
                </a:solidFill>
              </a:rPr>
              <a:t>C18 → compatible_with</a:t>
            </a:r>
            <a:endParaRPr lang="en-US" sz="780" dirty="0"/>
          </a:p>
          <a:p>
            <a:pPr indent="0" marL="0">
              <a:buNone/>
            </a:pPr>
            <a:r>
              <a:rPr lang="en-US" sz="780" dirty="0">
                <a:solidFill>
                  <a:srgbClr val="1F2937"/>
                </a:solidFill>
              </a:rPr>
              <a:t>→ reversed-phase</a:t>
            </a:r>
            <a:endParaRPr lang="en-US" sz="780" dirty="0"/>
          </a:p>
        </p:txBody>
      </p:sp>
      <p:sp>
        <p:nvSpPr>
          <p:cNvPr id="30" name="Shape 28"/>
          <p:cNvSpPr/>
          <p:nvPr/>
        </p:nvSpPr>
        <p:spPr>
          <a:xfrm>
            <a:off x="2194560" y="1883664"/>
            <a:ext cx="1737360" cy="438912"/>
          </a:xfrm>
          <a:prstGeom prst="rect">
            <a:avLst/>
          </a:prstGeom>
          <a:solidFill>
            <a:srgbClr val="FFFFFF"/>
          </a:solidFill>
          <a:ln w="10160">
            <a:solidFill>
              <a:srgbClr val="7C5CBF"/>
            </a:solidFill>
            <a:prstDash val="solid"/>
          </a:ln>
        </p:spPr>
      </p:sp>
      <p:sp>
        <p:nvSpPr>
          <p:cNvPr id="31" name="Text 29"/>
          <p:cNvSpPr/>
          <p:nvPr/>
        </p:nvSpPr>
        <p:spPr>
          <a:xfrm>
            <a:off x="2231136" y="1901952"/>
            <a:ext cx="1664208" cy="402336"/>
          </a:xfrm>
          <a:prstGeom prst="rect">
            <a:avLst/>
          </a:prstGeom>
          <a:noFill/>
          <a:ln/>
        </p:spPr>
        <p:txBody>
          <a:bodyPr wrap="square" rtlCol="0" anchor="ctr"/>
          <a:lstStyle/>
          <a:p>
            <a:pPr indent="0" marL="0">
              <a:buNone/>
            </a:pPr>
            <a:r>
              <a:rPr lang="en-US" sz="780" dirty="0">
                <a:solidFill>
                  <a:srgbClr val="1F2937"/>
                </a:solidFill>
              </a:rPr>
              <a:t>ACN_50% → sets_elution_strength</a:t>
            </a:r>
            <a:endParaRPr lang="en-US" sz="780" dirty="0"/>
          </a:p>
          <a:p>
            <a:pPr indent="0" marL="0">
              <a:buNone/>
            </a:pPr>
            <a:r>
              <a:rPr lang="en-US" sz="780" dirty="0">
                <a:solidFill>
                  <a:srgbClr val="1F2937"/>
                </a:solidFill>
              </a:rPr>
              <a:t>→ moderate-k range</a:t>
            </a:r>
            <a:endParaRPr lang="en-US" sz="780" dirty="0"/>
          </a:p>
        </p:txBody>
      </p:sp>
      <p:sp>
        <p:nvSpPr>
          <p:cNvPr id="32" name="Shape 30"/>
          <p:cNvSpPr/>
          <p:nvPr/>
        </p:nvSpPr>
        <p:spPr>
          <a:xfrm>
            <a:off x="2194560" y="2414016"/>
            <a:ext cx="1737360" cy="438912"/>
          </a:xfrm>
          <a:prstGeom prst="rect">
            <a:avLst/>
          </a:prstGeom>
          <a:solidFill>
            <a:srgbClr val="FFFFFF"/>
          </a:solidFill>
          <a:ln w="10160">
            <a:solidFill>
              <a:srgbClr val="7C5CBF"/>
            </a:solidFill>
            <a:prstDash val="solid"/>
          </a:ln>
        </p:spPr>
      </p:sp>
      <p:sp>
        <p:nvSpPr>
          <p:cNvPr id="33" name="Text 31"/>
          <p:cNvSpPr/>
          <p:nvPr/>
        </p:nvSpPr>
        <p:spPr>
          <a:xfrm>
            <a:off x="2231136" y="2432304"/>
            <a:ext cx="1664208" cy="402336"/>
          </a:xfrm>
          <a:prstGeom prst="rect">
            <a:avLst/>
          </a:prstGeom>
          <a:noFill/>
          <a:ln/>
        </p:spPr>
        <p:txBody>
          <a:bodyPr wrap="square" rtlCol="0" anchor="ctr"/>
          <a:lstStyle/>
          <a:p>
            <a:pPr indent="0" marL="0">
              <a:buNone/>
            </a:pPr>
            <a:r>
              <a:rPr lang="en-US" sz="780" dirty="0">
                <a:solidFill>
                  <a:srgbClr val="1F2937"/>
                </a:solidFill>
              </a:rPr>
              <a:t>flow_rate → governed_by</a:t>
            </a:r>
            <a:endParaRPr lang="en-US" sz="780" dirty="0"/>
          </a:p>
          <a:p>
            <a:pPr indent="0" marL="0">
              <a:buNone/>
            </a:pPr>
            <a:r>
              <a:rPr lang="en-US" sz="780" dirty="0">
                <a:solidFill>
                  <a:srgbClr val="1F2937"/>
                </a:solidFill>
              </a:rPr>
              <a:t>→ Van Deemter (u_opt)</a:t>
            </a:r>
            <a:endParaRPr lang="en-US" sz="780" dirty="0"/>
          </a:p>
        </p:txBody>
      </p:sp>
      <p:sp>
        <p:nvSpPr>
          <p:cNvPr id="34" name="Shape 32"/>
          <p:cNvSpPr/>
          <p:nvPr/>
        </p:nvSpPr>
        <p:spPr>
          <a:xfrm>
            <a:off x="2194560" y="2944368"/>
            <a:ext cx="1737360" cy="438912"/>
          </a:xfrm>
          <a:prstGeom prst="rect">
            <a:avLst/>
          </a:prstGeom>
          <a:solidFill>
            <a:srgbClr val="FFFFFF"/>
          </a:solidFill>
          <a:ln w="10160">
            <a:solidFill>
              <a:srgbClr val="D97706"/>
            </a:solidFill>
            <a:prstDash val="solid"/>
          </a:ln>
        </p:spPr>
      </p:sp>
      <p:sp>
        <p:nvSpPr>
          <p:cNvPr id="35" name="Text 33"/>
          <p:cNvSpPr/>
          <p:nvPr/>
        </p:nvSpPr>
        <p:spPr>
          <a:xfrm>
            <a:off x="2231136" y="2962656"/>
            <a:ext cx="1664208" cy="402336"/>
          </a:xfrm>
          <a:prstGeom prst="rect">
            <a:avLst/>
          </a:prstGeom>
          <a:noFill/>
          <a:ln/>
        </p:spPr>
        <p:txBody>
          <a:bodyPr wrap="square" rtlCol="0" anchor="ctr"/>
          <a:lstStyle/>
          <a:p>
            <a:pPr indent="0" marL="0">
              <a:buNone/>
            </a:pPr>
            <a:r>
              <a:rPr lang="en-US" sz="780" dirty="0">
                <a:solidFill>
                  <a:srgbClr val="1F2937"/>
                </a:solidFill>
              </a:rPr>
              <a:t>analgesic → has_pKa</a:t>
            </a:r>
            <a:endParaRPr lang="en-US" sz="780" dirty="0"/>
          </a:p>
          <a:p>
            <a:pPr indent="0" marL="0">
              <a:buNone/>
            </a:pPr>
            <a:r>
              <a:rPr lang="en-US" sz="780" dirty="0">
                <a:solidFill>
                  <a:srgbClr val="1F2937"/>
                </a:solidFill>
              </a:rPr>
              <a:t>→ ibuprofen 4.9 / paracetamol 9.5</a:t>
            </a:r>
            <a:endParaRPr lang="en-US" sz="780" dirty="0"/>
          </a:p>
        </p:txBody>
      </p:sp>
      <p:sp>
        <p:nvSpPr>
          <p:cNvPr id="36" name="Shape 34"/>
          <p:cNvSpPr/>
          <p:nvPr/>
        </p:nvSpPr>
        <p:spPr>
          <a:xfrm>
            <a:off x="2194560" y="3474720"/>
            <a:ext cx="1737360" cy="438912"/>
          </a:xfrm>
          <a:prstGeom prst="rect">
            <a:avLst/>
          </a:prstGeom>
          <a:solidFill>
            <a:srgbClr val="FFFFFF"/>
          </a:solidFill>
          <a:ln w="10160">
            <a:solidFill>
              <a:srgbClr val="7C5CBF"/>
            </a:solidFill>
            <a:prstDash val="solid"/>
          </a:ln>
        </p:spPr>
      </p:sp>
      <p:sp>
        <p:nvSpPr>
          <p:cNvPr id="37" name="Text 35"/>
          <p:cNvSpPr/>
          <p:nvPr/>
        </p:nvSpPr>
        <p:spPr>
          <a:xfrm>
            <a:off x="2231136" y="3493008"/>
            <a:ext cx="1664208" cy="402336"/>
          </a:xfrm>
          <a:prstGeom prst="rect">
            <a:avLst/>
          </a:prstGeom>
          <a:noFill/>
          <a:ln/>
        </p:spPr>
        <p:txBody>
          <a:bodyPr wrap="square" rtlCol="0" anchor="ctr"/>
          <a:lstStyle/>
          <a:p>
            <a:pPr indent="0" marL="0">
              <a:buNone/>
            </a:pPr>
            <a:r>
              <a:rPr lang="en-US" sz="780" dirty="0">
                <a:solidFill>
                  <a:srgbClr val="1F2937"/>
                </a:solidFill>
              </a:rPr>
              <a:t>Van Deemter → contains</a:t>
            </a:r>
            <a:endParaRPr lang="en-US" sz="780" dirty="0"/>
          </a:p>
          <a:p>
            <a:pPr indent="0" marL="0">
              <a:buNone/>
            </a:pPr>
            <a:r>
              <a:rPr lang="en-US" sz="780" dirty="0">
                <a:solidFill>
                  <a:srgbClr val="1F2937"/>
                </a:solidFill>
              </a:rPr>
              <a:t>→ A-term, B-term, C-term</a:t>
            </a:r>
            <a:endParaRPr lang="en-US" sz="780" dirty="0"/>
          </a:p>
        </p:txBody>
      </p:sp>
      <p:sp>
        <p:nvSpPr>
          <p:cNvPr id="38" name="Shape 36"/>
          <p:cNvSpPr/>
          <p:nvPr/>
        </p:nvSpPr>
        <p:spPr>
          <a:xfrm>
            <a:off x="2194560" y="4005072"/>
            <a:ext cx="1737360" cy="438912"/>
          </a:xfrm>
          <a:prstGeom prst="rect">
            <a:avLst/>
          </a:prstGeom>
          <a:solidFill>
            <a:srgbClr val="FFFFFF"/>
          </a:solidFill>
          <a:ln w="10160">
            <a:solidFill>
              <a:srgbClr val="16A34A"/>
            </a:solidFill>
            <a:prstDash val="solid"/>
          </a:ln>
        </p:spPr>
      </p:sp>
      <p:sp>
        <p:nvSpPr>
          <p:cNvPr id="39" name="Text 37"/>
          <p:cNvSpPr/>
          <p:nvPr/>
        </p:nvSpPr>
        <p:spPr>
          <a:xfrm>
            <a:off x="2231136" y="4023360"/>
            <a:ext cx="1664208" cy="402336"/>
          </a:xfrm>
          <a:prstGeom prst="rect">
            <a:avLst/>
          </a:prstGeom>
          <a:noFill/>
          <a:ln/>
        </p:spPr>
        <p:txBody>
          <a:bodyPr wrap="square" rtlCol="0" anchor="ctr"/>
          <a:lstStyle/>
          <a:p>
            <a:pPr indent="0" marL="0">
              <a:buNone/>
            </a:pPr>
            <a:r>
              <a:rPr lang="en-US" sz="780" dirty="0">
                <a:solidFill>
                  <a:srgbClr val="1F2937"/>
                </a:solidFill>
              </a:rPr>
              <a:t>plate_height → minimised_at</a:t>
            </a:r>
            <a:endParaRPr lang="en-US" sz="780" dirty="0"/>
          </a:p>
          <a:p>
            <a:pPr indent="0" marL="0">
              <a:buNone/>
            </a:pPr>
            <a:r>
              <a:rPr lang="en-US" sz="780" dirty="0">
                <a:solidFill>
                  <a:srgbClr val="1F2937"/>
                </a:solidFill>
              </a:rPr>
              <a:t>→ u_opt = √(B/C)</a:t>
            </a:r>
            <a:endParaRPr lang="en-US" sz="780" dirty="0"/>
          </a:p>
        </p:txBody>
      </p:sp>
      <p:sp>
        <p:nvSpPr>
          <p:cNvPr id="40" name="Shape 38"/>
          <p:cNvSpPr/>
          <p:nvPr/>
        </p:nvSpPr>
        <p:spPr>
          <a:xfrm>
            <a:off x="3931920" y="1572768"/>
            <a:ext cx="411480" cy="0"/>
          </a:xfrm>
          <a:prstGeom prst="line">
            <a:avLst/>
          </a:prstGeom>
          <a:noFill/>
          <a:ln w="12700">
            <a:solidFill>
              <a:srgbClr val="D1D5DB"/>
            </a:solidFill>
            <a:prstDash val="dash"/>
          </a:ln>
        </p:spPr>
      </p:sp>
      <p:sp>
        <p:nvSpPr>
          <p:cNvPr id="41" name="Shape 39"/>
          <p:cNvSpPr/>
          <p:nvPr/>
        </p:nvSpPr>
        <p:spPr>
          <a:xfrm>
            <a:off x="3931920" y="2103120"/>
            <a:ext cx="411480" cy="0"/>
          </a:xfrm>
          <a:prstGeom prst="line">
            <a:avLst/>
          </a:prstGeom>
          <a:noFill/>
          <a:ln w="12700">
            <a:solidFill>
              <a:srgbClr val="D1D5DB"/>
            </a:solidFill>
            <a:prstDash val="dash"/>
          </a:ln>
        </p:spPr>
      </p:sp>
      <p:sp>
        <p:nvSpPr>
          <p:cNvPr id="42" name="Shape 40"/>
          <p:cNvSpPr/>
          <p:nvPr/>
        </p:nvSpPr>
        <p:spPr>
          <a:xfrm>
            <a:off x="3931920" y="2633472"/>
            <a:ext cx="411480" cy="0"/>
          </a:xfrm>
          <a:prstGeom prst="line">
            <a:avLst/>
          </a:prstGeom>
          <a:noFill/>
          <a:ln w="12700">
            <a:solidFill>
              <a:srgbClr val="D1D5DB"/>
            </a:solidFill>
            <a:prstDash val="dash"/>
          </a:ln>
        </p:spPr>
      </p:sp>
      <p:sp>
        <p:nvSpPr>
          <p:cNvPr id="43" name="Shape 41"/>
          <p:cNvSpPr/>
          <p:nvPr/>
        </p:nvSpPr>
        <p:spPr>
          <a:xfrm>
            <a:off x="3931920" y="3163824"/>
            <a:ext cx="411480" cy="0"/>
          </a:xfrm>
          <a:prstGeom prst="line">
            <a:avLst/>
          </a:prstGeom>
          <a:noFill/>
          <a:ln w="12700">
            <a:solidFill>
              <a:srgbClr val="D1D5DB"/>
            </a:solidFill>
            <a:prstDash val="dash"/>
          </a:ln>
        </p:spPr>
      </p:sp>
      <p:sp>
        <p:nvSpPr>
          <p:cNvPr id="44" name="Shape 42"/>
          <p:cNvSpPr/>
          <p:nvPr/>
        </p:nvSpPr>
        <p:spPr>
          <a:xfrm>
            <a:off x="3931920" y="3694176"/>
            <a:ext cx="411480" cy="0"/>
          </a:xfrm>
          <a:prstGeom prst="line">
            <a:avLst/>
          </a:prstGeom>
          <a:noFill/>
          <a:ln w="12700">
            <a:solidFill>
              <a:srgbClr val="D1D5DB"/>
            </a:solidFill>
            <a:prstDash val="dash"/>
          </a:ln>
        </p:spPr>
      </p:sp>
      <p:sp>
        <p:nvSpPr>
          <p:cNvPr id="45" name="Shape 43"/>
          <p:cNvSpPr/>
          <p:nvPr/>
        </p:nvSpPr>
        <p:spPr>
          <a:xfrm>
            <a:off x="3931920" y="4224528"/>
            <a:ext cx="411480" cy="0"/>
          </a:xfrm>
          <a:prstGeom prst="line">
            <a:avLst/>
          </a:prstGeom>
          <a:noFill/>
          <a:ln w="12700">
            <a:solidFill>
              <a:srgbClr val="D1D5DB"/>
            </a:solidFill>
            <a:prstDash val="dash"/>
          </a:ln>
        </p:spPr>
      </p:sp>
      <p:sp>
        <p:nvSpPr>
          <p:cNvPr id="46" name="Shape 44"/>
          <p:cNvSpPr/>
          <p:nvPr/>
        </p:nvSpPr>
        <p:spPr>
          <a:xfrm>
            <a:off x="4343400" y="987552"/>
            <a:ext cx="2148840" cy="274320"/>
          </a:xfrm>
          <a:prstGeom prst="rect">
            <a:avLst/>
          </a:prstGeom>
          <a:solidFill>
            <a:srgbClr val="5A3F9A"/>
          </a:solidFill>
          <a:ln/>
        </p:spPr>
      </p:sp>
      <p:sp>
        <p:nvSpPr>
          <p:cNvPr id="47" name="Text 45"/>
          <p:cNvSpPr/>
          <p:nvPr/>
        </p:nvSpPr>
        <p:spPr>
          <a:xfrm>
            <a:off x="4343400" y="987552"/>
            <a:ext cx="2148840" cy="274320"/>
          </a:xfrm>
          <a:prstGeom prst="rect">
            <a:avLst/>
          </a:prstGeom>
          <a:noFill/>
          <a:ln/>
        </p:spPr>
        <p:txBody>
          <a:bodyPr wrap="square" lIns="0" tIns="0" rIns="0" bIns="0" rtlCol="0" anchor="ctr"/>
          <a:lstStyle/>
          <a:p>
            <a:pPr algn="ctr" indent="0" marL="0">
              <a:buNone/>
            </a:pPr>
            <a:r>
              <a:rPr lang="en-US" sz="800" b="1" dirty="0">
                <a:solidFill>
                  <a:srgbClr val="FFFFFF"/>
                </a:solidFill>
              </a:rPr>
              <a:t>HYPEREDGE CLUSTERS</a:t>
            </a:r>
            <a:endParaRPr lang="en-US" sz="800" dirty="0"/>
          </a:p>
        </p:txBody>
      </p:sp>
      <p:sp>
        <p:nvSpPr>
          <p:cNvPr id="48" name="Shape 46"/>
          <p:cNvSpPr/>
          <p:nvPr/>
        </p:nvSpPr>
        <p:spPr>
          <a:xfrm>
            <a:off x="4389120" y="1353312"/>
            <a:ext cx="2057400" cy="438912"/>
          </a:xfrm>
          <a:prstGeom prst="rect">
            <a:avLst/>
          </a:prstGeom>
          <a:solidFill>
            <a:srgbClr val="F7F5FB"/>
          </a:solidFill>
          <a:ln w="10160">
            <a:solidFill>
              <a:srgbClr val="7C5CBF"/>
            </a:solidFill>
            <a:prstDash val="solid"/>
          </a:ln>
        </p:spPr>
      </p:sp>
      <p:sp>
        <p:nvSpPr>
          <p:cNvPr id="49" name="Shape 47"/>
          <p:cNvSpPr/>
          <p:nvPr/>
        </p:nvSpPr>
        <p:spPr>
          <a:xfrm>
            <a:off x="4389120" y="1353312"/>
            <a:ext cx="621792" cy="237744"/>
          </a:xfrm>
          <a:prstGeom prst="rect">
            <a:avLst/>
          </a:prstGeom>
          <a:solidFill>
            <a:srgbClr val="7C5CBF"/>
          </a:solidFill>
          <a:ln/>
        </p:spPr>
      </p:sp>
      <p:sp>
        <p:nvSpPr>
          <p:cNvPr id="50" name="Text 48"/>
          <p:cNvSpPr/>
          <p:nvPr/>
        </p:nvSpPr>
        <p:spPr>
          <a:xfrm>
            <a:off x="4389120" y="1353312"/>
            <a:ext cx="621792" cy="237744"/>
          </a:xfrm>
          <a:prstGeom prst="rect">
            <a:avLst/>
          </a:prstGeom>
          <a:noFill/>
          <a:ln/>
        </p:spPr>
        <p:txBody>
          <a:bodyPr wrap="square" lIns="0" tIns="0" rIns="0" bIns="0" rtlCol="0" anchor="ctr"/>
          <a:lstStyle/>
          <a:p>
            <a:pPr algn="ctr" indent="0" marL="0">
              <a:buNone/>
            </a:pPr>
            <a:r>
              <a:rPr lang="en-US" sz="700" b="1" dirty="0">
                <a:solidFill>
                  <a:srgbClr val="FFFFFF"/>
                </a:solidFill>
              </a:rPr>
              <a:t>HE-003</a:t>
            </a:r>
            <a:endParaRPr lang="en-US" sz="700" dirty="0"/>
          </a:p>
        </p:txBody>
      </p:sp>
      <p:sp>
        <p:nvSpPr>
          <p:cNvPr id="51" name="Text 49"/>
          <p:cNvSpPr/>
          <p:nvPr/>
        </p:nvSpPr>
        <p:spPr>
          <a:xfrm>
            <a:off x="5047488" y="1371600"/>
            <a:ext cx="1353312" cy="402336"/>
          </a:xfrm>
          <a:prstGeom prst="rect">
            <a:avLst/>
          </a:prstGeom>
          <a:noFill/>
          <a:ln/>
        </p:spPr>
        <p:txBody>
          <a:bodyPr wrap="square" rtlCol="0" anchor="ctr"/>
          <a:lstStyle/>
          <a:p>
            <a:pPr indent="0" marL="0">
              <a:buNone/>
            </a:pPr>
            <a:r>
              <a:rPr lang="en-US" sz="750" dirty="0">
                <a:solidFill>
                  <a:srgbClr val="1F2937"/>
                </a:solidFill>
              </a:rPr>
              <a:t>C18 Reversed-Phase Properties</a:t>
            </a:r>
            <a:endParaRPr lang="en-US" sz="750" dirty="0"/>
          </a:p>
          <a:p>
            <a:pPr indent="0" marL="0">
              <a:buNone/>
            </a:pPr>
            <a:r>
              <a:rPr lang="en-US" sz="750" dirty="0">
                <a:solidFill>
                  <a:srgbClr val="1F2937"/>
                </a:solidFill>
              </a:rPr>
              <a:t>→ compatible solvents, pH range, particle size</a:t>
            </a:r>
            <a:endParaRPr lang="en-US" sz="750" dirty="0"/>
          </a:p>
        </p:txBody>
      </p:sp>
      <p:sp>
        <p:nvSpPr>
          <p:cNvPr id="52" name="Shape 50"/>
          <p:cNvSpPr/>
          <p:nvPr/>
        </p:nvSpPr>
        <p:spPr>
          <a:xfrm>
            <a:off x="4389120" y="1883664"/>
            <a:ext cx="2057400" cy="438912"/>
          </a:xfrm>
          <a:prstGeom prst="rect">
            <a:avLst/>
          </a:prstGeom>
          <a:solidFill>
            <a:srgbClr val="F7F5FB"/>
          </a:solidFill>
          <a:ln w="10160">
            <a:solidFill>
              <a:srgbClr val="7C5CBF"/>
            </a:solidFill>
            <a:prstDash val="solid"/>
          </a:ln>
        </p:spPr>
      </p:sp>
      <p:sp>
        <p:nvSpPr>
          <p:cNvPr id="53" name="Shape 51"/>
          <p:cNvSpPr/>
          <p:nvPr/>
        </p:nvSpPr>
        <p:spPr>
          <a:xfrm>
            <a:off x="4389120" y="1883664"/>
            <a:ext cx="621792" cy="237744"/>
          </a:xfrm>
          <a:prstGeom prst="rect">
            <a:avLst/>
          </a:prstGeom>
          <a:solidFill>
            <a:srgbClr val="7C5CBF"/>
          </a:solidFill>
          <a:ln/>
        </p:spPr>
      </p:sp>
      <p:sp>
        <p:nvSpPr>
          <p:cNvPr id="54" name="Text 52"/>
          <p:cNvSpPr/>
          <p:nvPr/>
        </p:nvSpPr>
        <p:spPr>
          <a:xfrm>
            <a:off x="4389120" y="1883664"/>
            <a:ext cx="621792" cy="237744"/>
          </a:xfrm>
          <a:prstGeom prst="rect">
            <a:avLst/>
          </a:prstGeom>
          <a:noFill/>
          <a:ln/>
        </p:spPr>
        <p:txBody>
          <a:bodyPr wrap="square" lIns="0" tIns="0" rIns="0" bIns="0" rtlCol="0" anchor="ctr"/>
          <a:lstStyle/>
          <a:p>
            <a:pPr algn="ctr" indent="0" marL="0">
              <a:buNone/>
            </a:pPr>
            <a:r>
              <a:rPr lang="en-US" sz="700" b="1" dirty="0">
                <a:solidFill>
                  <a:srgbClr val="FFFFFF"/>
                </a:solidFill>
              </a:rPr>
              <a:t>HE-011</a:t>
            </a:r>
            <a:endParaRPr lang="en-US" sz="700" dirty="0"/>
          </a:p>
        </p:txBody>
      </p:sp>
      <p:sp>
        <p:nvSpPr>
          <p:cNvPr id="55" name="Text 53"/>
          <p:cNvSpPr/>
          <p:nvPr/>
        </p:nvSpPr>
        <p:spPr>
          <a:xfrm>
            <a:off x="5047488" y="1901952"/>
            <a:ext cx="1353312" cy="402336"/>
          </a:xfrm>
          <a:prstGeom prst="rect">
            <a:avLst/>
          </a:prstGeom>
          <a:noFill/>
          <a:ln/>
        </p:spPr>
        <p:txBody>
          <a:bodyPr wrap="square" rtlCol="0" anchor="ctr"/>
          <a:lstStyle/>
          <a:p>
            <a:pPr indent="0" marL="0">
              <a:buNone/>
            </a:pPr>
            <a:r>
              <a:rPr lang="en-US" sz="750" dirty="0">
                <a:solidFill>
                  <a:srgbClr val="1F2937"/>
                </a:solidFill>
              </a:rPr>
              <a:t>Mobile Phase Elution Strength</a:t>
            </a:r>
            <a:endParaRPr lang="en-US" sz="750" dirty="0"/>
          </a:p>
          <a:p>
            <a:pPr indent="0" marL="0">
              <a:buNone/>
            </a:pPr>
            <a:r>
              <a:rPr lang="en-US" sz="750" dirty="0">
                <a:solidFill>
                  <a:srgbClr val="1F2937"/>
                </a:solidFill>
              </a:rPr>
              <a:t>→ ACN/water ratios → k values map</a:t>
            </a:r>
            <a:endParaRPr lang="en-US" sz="750" dirty="0"/>
          </a:p>
        </p:txBody>
      </p:sp>
      <p:sp>
        <p:nvSpPr>
          <p:cNvPr id="56" name="Shape 54"/>
          <p:cNvSpPr/>
          <p:nvPr/>
        </p:nvSpPr>
        <p:spPr>
          <a:xfrm>
            <a:off x="4389120" y="2414016"/>
            <a:ext cx="2057400" cy="438912"/>
          </a:xfrm>
          <a:prstGeom prst="rect">
            <a:avLst/>
          </a:prstGeom>
          <a:solidFill>
            <a:srgbClr val="F7F5FB"/>
          </a:solidFill>
          <a:ln w="10160">
            <a:solidFill>
              <a:srgbClr val="7C5CBF"/>
            </a:solidFill>
            <a:prstDash val="solid"/>
          </a:ln>
        </p:spPr>
      </p:sp>
      <p:sp>
        <p:nvSpPr>
          <p:cNvPr id="57" name="Shape 55"/>
          <p:cNvSpPr/>
          <p:nvPr/>
        </p:nvSpPr>
        <p:spPr>
          <a:xfrm>
            <a:off x="4389120" y="2414016"/>
            <a:ext cx="621792" cy="237744"/>
          </a:xfrm>
          <a:prstGeom prst="rect">
            <a:avLst/>
          </a:prstGeom>
          <a:solidFill>
            <a:srgbClr val="7C5CBF"/>
          </a:solidFill>
          <a:ln/>
        </p:spPr>
      </p:sp>
      <p:sp>
        <p:nvSpPr>
          <p:cNvPr id="58" name="Text 56"/>
          <p:cNvSpPr/>
          <p:nvPr/>
        </p:nvSpPr>
        <p:spPr>
          <a:xfrm>
            <a:off x="4389120" y="2414016"/>
            <a:ext cx="621792" cy="237744"/>
          </a:xfrm>
          <a:prstGeom prst="rect">
            <a:avLst/>
          </a:prstGeom>
          <a:noFill/>
          <a:ln/>
        </p:spPr>
        <p:txBody>
          <a:bodyPr wrap="square" lIns="0" tIns="0" rIns="0" bIns="0" rtlCol="0" anchor="ctr"/>
          <a:lstStyle/>
          <a:p>
            <a:pPr algn="ctr" indent="0" marL="0">
              <a:buNone/>
            </a:pPr>
            <a:r>
              <a:rPr lang="en-US" sz="700" b="1" dirty="0">
                <a:solidFill>
                  <a:srgbClr val="FFFFFF"/>
                </a:solidFill>
              </a:rPr>
              <a:t>HE-008</a:t>
            </a:r>
            <a:endParaRPr lang="en-US" sz="700" dirty="0"/>
          </a:p>
        </p:txBody>
      </p:sp>
      <p:sp>
        <p:nvSpPr>
          <p:cNvPr id="59" name="Text 57"/>
          <p:cNvSpPr/>
          <p:nvPr/>
        </p:nvSpPr>
        <p:spPr>
          <a:xfrm>
            <a:off x="5047488" y="2432304"/>
            <a:ext cx="1353312" cy="402336"/>
          </a:xfrm>
          <a:prstGeom prst="rect">
            <a:avLst/>
          </a:prstGeom>
          <a:noFill/>
          <a:ln/>
        </p:spPr>
        <p:txBody>
          <a:bodyPr wrap="square" rtlCol="0" anchor="ctr"/>
          <a:lstStyle/>
          <a:p>
            <a:pPr indent="0" marL="0">
              <a:buNone/>
            </a:pPr>
            <a:r>
              <a:rPr lang="en-US" sz="750" dirty="0">
                <a:solidFill>
                  <a:srgbClr val="1F2937"/>
                </a:solidFill>
              </a:rPr>
              <a:t>Van Deemter Fundamentals</a:t>
            </a:r>
            <a:endParaRPr lang="en-US" sz="750" dirty="0"/>
          </a:p>
          <a:p>
            <a:pPr indent="0" marL="0">
              <a:buNone/>
            </a:pPr>
            <a:r>
              <a:rPr lang="en-US" sz="750" dirty="0">
                <a:solidFill>
                  <a:srgbClr val="1F2937"/>
                </a:solidFill>
              </a:rPr>
              <a:t>→ H=A+B/u+Cu, u_opt derivation</a:t>
            </a:r>
            <a:endParaRPr lang="en-US" sz="750" dirty="0"/>
          </a:p>
        </p:txBody>
      </p:sp>
      <p:sp>
        <p:nvSpPr>
          <p:cNvPr id="60" name="Shape 58"/>
          <p:cNvSpPr/>
          <p:nvPr/>
        </p:nvSpPr>
        <p:spPr>
          <a:xfrm>
            <a:off x="4389120" y="2944368"/>
            <a:ext cx="2057400" cy="438912"/>
          </a:xfrm>
          <a:prstGeom prst="rect">
            <a:avLst/>
          </a:prstGeom>
          <a:solidFill>
            <a:srgbClr val="F7F5FB"/>
          </a:solidFill>
          <a:ln w="10160">
            <a:solidFill>
              <a:srgbClr val="7C5CBF"/>
            </a:solidFill>
            <a:prstDash val="solid"/>
          </a:ln>
        </p:spPr>
      </p:sp>
      <p:sp>
        <p:nvSpPr>
          <p:cNvPr id="61" name="Shape 59"/>
          <p:cNvSpPr/>
          <p:nvPr/>
        </p:nvSpPr>
        <p:spPr>
          <a:xfrm>
            <a:off x="4389120" y="2944368"/>
            <a:ext cx="621792" cy="237744"/>
          </a:xfrm>
          <a:prstGeom prst="rect">
            <a:avLst/>
          </a:prstGeom>
          <a:solidFill>
            <a:srgbClr val="7C5CBF"/>
          </a:solidFill>
          <a:ln/>
        </p:spPr>
      </p:sp>
      <p:sp>
        <p:nvSpPr>
          <p:cNvPr id="62" name="Text 60"/>
          <p:cNvSpPr/>
          <p:nvPr/>
        </p:nvSpPr>
        <p:spPr>
          <a:xfrm>
            <a:off x="4389120" y="2944368"/>
            <a:ext cx="621792" cy="237744"/>
          </a:xfrm>
          <a:prstGeom prst="rect">
            <a:avLst/>
          </a:prstGeom>
          <a:noFill/>
          <a:ln/>
        </p:spPr>
        <p:txBody>
          <a:bodyPr wrap="square" lIns="0" tIns="0" rIns="0" bIns="0" rtlCol="0" anchor="ctr"/>
          <a:lstStyle/>
          <a:p>
            <a:pPr algn="ctr" indent="0" marL="0">
              <a:buNone/>
            </a:pPr>
            <a:r>
              <a:rPr lang="en-US" sz="700" b="1" dirty="0">
                <a:solidFill>
                  <a:srgbClr val="FFFFFF"/>
                </a:solidFill>
              </a:rPr>
              <a:t>HE-044</a:t>
            </a:r>
            <a:endParaRPr lang="en-US" sz="700" dirty="0"/>
          </a:p>
        </p:txBody>
      </p:sp>
      <p:sp>
        <p:nvSpPr>
          <p:cNvPr id="63" name="Text 61"/>
          <p:cNvSpPr/>
          <p:nvPr/>
        </p:nvSpPr>
        <p:spPr>
          <a:xfrm>
            <a:off x="5047488" y="2962656"/>
            <a:ext cx="1353312" cy="402336"/>
          </a:xfrm>
          <a:prstGeom prst="rect">
            <a:avLst/>
          </a:prstGeom>
          <a:noFill/>
          <a:ln/>
        </p:spPr>
        <p:txBody>
          <a:bodyPr wrap="square" rtlCol="0" anchor="ctr"/>
          <a:lstStyle/>
          <a:p>
            <a:pPr indent="0" marL="0">
              <a:buNone/>
            </a:pPr>
            <a:r>
              <a:rPr lang="en-US" sz="750" dirty="0">
                <a:solidFill>
                  <a:srgbClr val="1F2937"/>
                </a:solidFill>
              </a:rPr>
              <a:t>Analgesic Compound Properties</a:t>
            </a:r>
            <a:endParaRPr lang="en-US" sz="750" dirty="0"/>
          </a:p>
          <a:p>
            <a:pPr indent="0" marL="0">
              <a:buNone/>
            </a:pPr>
            <a:r>
              <a:rPr lang="en-US" sz="750" dirty="0">
                <a:solidFill>
                  <a:srgbClr val="1F2937"/>
                </a:solidFill>
              </a:rPr>
              <a:t>→ pKa, logP, k values by mobile phase</a:t>
            </a:r>
            <a:endParaRPr lang="en-US" sz="750" dirty="0"/>
          </a:p>
        </p:txBody>
      </p:sp>
      <p:sp>
        <p:nvSpPr>
          <p:cNvPr id="64" name="Shape 62"/>
          <p:cNvSpPr/>
          <p:nvPr/>
        </p:nvSpPr>
        <p:spPr>
          <a:xfrm>
            <a:off x="4389120" y="3474720"/>
            <a:ext cx="2057400" cy="438912"/>
          </a:xfrm>
          <a:prstGeom prst="rect">
            <a:avLst/>
          </a:prstGeom>
          <a:solidFill>
            <a:srgbClr val="F7F5FB"/>
          </a:solidFill>
          <a:ln w="10160">
            <a:solidFill>
              <a:srgbClr val="7C5CBF"/>
            </a:solidFill>
            <a:prstDash val="solid"/>
          </a:ln>
        </p:spPr>
      </p:sp>
      <p:sp>
        <p:nvSpPr>
          <p:cNvPr id="65" name="Shape 63"/>
          <p:cNvSpPr/>
          <p:nvPr/>
        </p:nvSpPr>
        <p:spPr>
          <a:xfrm>
            <a:off x="4389120" y="3474720"/>
            <a:ext cx="621792" cy="237744"/>
          </a:xfrm>
          <a:prstGeom prst="rect">
            <a:avLst/>
          </a:prstGeom>
          <a:solidFill>
            <a:srgbClr val="7C5CBF"/>
          </a:solidFill>
          <a:ln/>
        </p:spPr>
      </p:sp>
      <p:sp>
        <p:nvSpPr>
          <p:cNvPr id="66" name="Text 64"/>
          <p:cNvSpPr/>
          <p:nvPr/>
        </p:nvSpPr>
        <p:spPr>
          <a:xfrm>
            <a:off x="4389120" y="3474720"/>
            <a:ext cx="621792" cy="237744"/>
          </a:xfrm>
          <a:prstGeom prst="rect">
            <a:avLst/>
          </a:prstGeom>
          <a:noFill/>
          <a:ln/>
        </p:spPr>
        <p:txBody>
          <a:bodyPr wrap="square" lIns="0" tIns="0" rIns="0" bIns="0" rtlCol="0" anchor="ctr"/>
          <a:lstStyle/>
          <a:p>
            <a:pPr algn="ctr" indent="0" marL="0">
              <a:buNone/>
            </a:pPr>
            <a:r>
              <a:rPr lang="en-US" sz="700" b="1" dirty="0">
                <a:solidFill>
                  <a:srgbClr val="FFFFFF"/>
                </a:solidFill>
              </a:rPr>
              <a:t>HE-008</a:t>
            </a:r>
            <a:endParaRPr lang="en-US" sz="700" dirty="0"/>
          </a:p>
        </p:txBody>
      </p:sp>
      <p:sp>
        <p:nvSpPr>
          <p:cNvPr id="67" name="Text 65"/>
          <p:cNvSpPr/>
          <p:nvPr/>
        </p:nvSpPr>
        <p:spPr>
          <a:xfrm>
            <a:off x="5047488" y="3493008"/>
            <a:ext cx="1353312" cy="402336"/>
          </a:xfrm>
          <a:prstGeom prst="rect">
            <a:avLst/>
          </a:prstGeom>
          <a:noFill/>
          <a:ln/>
        </p:spPr>
        <p:txBody>
          <a:bodyPr wrap="square" rtlCol="0" anchor="ctr"/>
          <a:lstStyle/>
          <a:p>
            <a:pPr indent="0" marL="0">
              <a:buNone/>
            </a:pPr>
            <a:r>
              <a:rPr lang="en-US" sz="750" dirty="0">
                <a:solidFill>
                  <a:srgbClr val="1F2937"/>
                </a:solidFill>
              </a:rPr>
              <a:t>(same) Van Deemter + flow terms</a:t>
            </a:r>
            <a:endParaRPr lang="en-US" sz="750" dirty="0"/>
          </a:p>
          <a:p>
            <a:pPr indent="0" marL="0">
              <a:buNone/>
            </a:pPr>
            <a:r>
              <a:rPr lang="en-US" sz="750" dirty="0">
                <a:solidFill>
                  <a:srgbClr val="1F2937"/>
                </a:solidFill>
              </a:rPr>
              <a:t>→ C-term dominant at high u</a:t>
            </a:r>
            <a:endParaRPr lang="en-US" sz="750" dirty="0"/>
          </a:p>
        </p:txBody>
      </p:sp>
      <p:sp>
        <p:nvSpPr>
          <p:cNvPr id="68" name="Shape 66"/>
          <p:cNvSpPr/>
          <p:nvPr/>
        </p:nvSpPr>
        <p:spPr>
          <a:xfrm>
            <a:off x="4389120" y="4005072"/>
            <a:ext cx="2057400" cy="438912"/>
          </a:xfrm>
          <a:prstGeom prst="rect">
            <a:avLst/>
          </a:prstGeom>
          <a:solidFill>
            <a:srgbClr val="F7F5FB"/>
          </a:solidFill>
          <a:ln w="10160">
            <a:solidFill>
              <a:srgbClr val="7C5CBF"/>
            </a:solidFill>
            <a:prstDash val="solid"/>
          </a:ln>
        </p:spPr>
      </p:sp>
      <p:sp>
        <p:nvSpPr>
          <p:cNvPr id="69" name="Shape 67"/>
          <p:cNvSpPr/>
          <p:nvPr/>
        </p:nvSpPr>
        <p:spPr>
          <a:xfrm>
            <a:off x="4389120" y="4005072"/>
            <a:ext cx="621792" cy="237744"/>
          </a:xfrm>
          <a:prstGeom prst="rect">
            <a:avLst/>
          </a:prstGeom>
          <a:solidFill>
            <a:srgbClr val="7C5CBF"/>
          </a:solidFill>
          <a:ln/>
        </p:spPr>
      </p:sp>
      <p:sp>
        <p:nvSpPr>
          <p:cNvPr id="70" name="Text 68"/>
          <p:cNvSpPr/>
          <p:nvPr/>
        </p:nvSpPr>
        <p:spPr>
          <a:xfrm>
            <a:off x="4389120" y="4005072"/>
            <a:ext cx="621792" cy="237744"/>
          </a:xfrm>
          <a:prstGeom prst="rect">
            <a:avLst/>
          </a:prstGeom>
          <a:noFill/>
          <a:ln/>
        </p:spPr>
        <p:txBody>
          <a:bodyPr wrap="square" lIns="0" tIns="0" rIns="0" bIns="0" rtlCol="0" anchor="ctr"/>
          <a:lstStyle/>
          <a:p>
            <a:pPr algn="ctr" indent="0" marL="0">
              <a:buNone/>
            </a:pPr>
            <a:r>
              <a:rPr lang="en-US" sz="700" b="1" dirty="0">
                <a:solidFill>
                  <a:srgbClr val="FFFFFF"/>
                </a:solidFill>
              </a:rPr>
              <a:t>HE-008</a:t>
            </a:r>
            <a:endParaRPr lang="en-US" sz="700" dirty="0"/>
          </a:p>
        </p:txBody>
      </p:sp>
      <p:sp>
        <p:nvSpPr>
          <p:cNvPr id="71" name="Text 69"/>
          <p:cNvSpPr/>
          <p:nvPr/>
        </p:nvSpPr>
        <p:spPr>
          <a:xfrm>
            <a:off x="5047488" y="4023360"/>
            <a:ext cx="1353312" cy="402336"/>
          </a:xfrm>
          <a:prstGeom prst="rect">
            <a:avLst/>
          </a:prstGeom>
          <a:noFill/>
          <a:ln/>
        </p:spPr>
        <p:txBody>
          <a:bodyPr wrap="square" rtlCol="0" anchor="ctr"/>
          <a:lstStyle/>
          <a:p>
            <a:pPr indent="0" marL="0">
              <a:buNone/>
            </a:pPr>
            <a:r>
              <a:rPr lang="en-US" sz="750" dirty="0">
                <a:solidFill>
                  <a:srgbClr val="1F2937"/>
                </a:solidFill>
              </a:rPr>
              <a:t>(same) Plate Height Minimum</a:t>
            </a:r>
            <a:endParaRPr lang="en-US" sz="750" dirty="0"/>
          </a:p>
          <a:p>
            <a:pPr indent="0" marL="0">
              <a:buNone/>
            </a:pPr>
            <a:r>
              <a:rPr lang="en-US" sz="750" dirty="0">
                <a:solidFill>
                  <a:srgbClr val="1F2937"/>
                </a:solidFill>
              </a:rPr>
              <a:t>→ u_opt formula + numeric values</a:t>
            </a:r>
            <a:endParaRPr lang="en-US" sz="750" dirty="0"/>
          </a:p>
        </p:txBody>
      </p:sp>
      <p:sp>
        <p:nvSpPr>
          <p:cNvPr id="72" name="Shape 70"/>
          <p:cNvSpPr/>
          <p:nvPr/>
        </p:nvSpPr>
        <p:spPr>
          <a:xfrm>
            <a:off x="6446520" y="1572768"/>
            <a:ext cx="347472" cy="0"/>
          </a:xfrm>
          <a:prstGeom prst="line">
            <a:avLst/>
          </a:prstGeom>
          <a:noFill/>
          <a:ln w="19050">
            <a:solidFill>
              <a:srgbClr val="7C5CBF"/>
            </a:solidFill>
            <a:prstDash val="solid"/>
          </a:ln>
        </p:spPr>
      </p:sp>
      <p:sp>
        <p:nvSpPr>
          <p:cNvPr id="73" name="Shape 71"/>
          <p:cNvSpPr/>
          <p:nvPr/>
        </p:nvSpPr>
        <p:spPr>
          <a:xfrm>
            <a:off x="6446520" y="2103120"/>
            <a:ext cx="347472" cy="0"/>
          </a:xfrm>
          <a:prstGeom prst="line">
            <a:avLst/>
          </a:prstGeom>
          <a:noFill/>
          <a:ln w="19050">
            <a:solidFill>
              <a:srgbClr val="7C5CBF"/>
            </a:solidFill>
            <a:prstDash val="solid"/>
          </a:ln>
        </p:spPr>
      </p:sp>
      <p:sp>
        <p:nvSpPr>
          <p:cNvPr id="74" name="Shape 72"/>
          <p:cNvSpPr/>
          <p:nvPr/>
        </p:nvSpPr>
        <p:spPr>
          <a:xfrm>
            <a:off x="6446520" y="2633472"/>
            <a:ext cx="347472" cy="0"/>
          </a:xfrm>
          <a:prstGeom prst="line">
            <a:avLst/>
          </a:prstGeom>
          <a:noFill/>
          <a:ln w="19050">
            <a:solidFill>
              <a:srgbClr val="7C5CBF"/>
            </a:solidFill>
            <a:prstDash val="solid"/>
          </a:ln>
        </p:spPr>
      </p:sp>
      <p:sp>
        <p:nvSpPr>
          <p:cNvPr id="75" name="Shape 73"/>
          <p:cNvSpPr/>
          <p:nvPr/>
        </p:nvSpPr>
        <p:spPr>
          <a:xfrm>
            <a:off x="6446520" y="3163824"/>
            <a:ext cx="347472" cy="0"/>
          </a:xfrm>
          <a:prstGeom prst="line">
            <a:avLst/>
          </a:prstGeom>
          <a:noFill/>
          <a:ln w="19050">
            <a:solidFill>
              <a:srgbClr val="7C5CBF"/>
            </a:solidFill>
            <a:prstDash val="solid"/>
          </a:ln>
        </p:spPr>
      </p:sp>
      <p:sp>
        <p:nvSpPr>
          <p:cNvPr id="76" name="Shape 74"/>
          <p:cNvSpPr/>
          <p:nvPr/>
        </p:nvSpPr>
        <p:spPr>
          <a:xfrm>
            <a:off x="6446520" y="3694176"/>
            <a:ext cx="347472" cy="0"/>
          </a:xfrm>
          <a:prstGeom prst="line">
            <a:avLst/>
          </a:prstGeom>
          <a:noFill/>
          <a:ln w="19050">
            <a:solidFill>
              <a:srgbClr val="7C5CBF"/>
            </a:solidFill>
            <a:prstDash val="solid"/>
          </a:ln>
        </p:spPr>
      </p:sp>
      <p:sp>
        <p:nvSpPr>
          <p:cNvPr id="77" name="Shape 75"/>
          <p:cNvSpPr/>
          <p:nvPr/>
        </p:nvSpPr>
        <p:spPr>
          <a:xfrm>
            <a:off x="6446520" y="4224528"/>
            <a:ext cx="347472" cy="0"/>
          </a:xfrm>
          <a:prstGeom prst="line">
            <a:avLst/>
          </a:prstGeom>
          <a:noFill/>
          <a:ln w="19050">
            <a:solidFill>
              <a:srgbClr val="7C5CBF"/>
            </a:solidFill>
            <a:prstDash val="solid"/>
          </a:ln>
        </p:spPr>
      </p:sp>
      <p:sp>
        <p:nvSpPr>
          <p:cNvPr id="78" name="Shape 76"/>
          <p:cNvSpPr/>
          <p:nvPr/>
        </p:nvSpPr>
        <p:spPr>
          <a:xfrm>
            <a:off x="6793992" y="987552"/>
            <a:ext cx="2148840" cy="274320"/>
          </a:xfrm>
          <a:prstGeom prst="rect">
            <a:avLst/>
          </a:prstGeom>
          <a:solidFill>
            <a:srgbClr val="7C5CBF"/>
          </a:solidFill>
          <a:ln/>
        </p:spPr>
      </p:sp>
      <p:sp>
        <p:nvSpPr>
          <p:cNvPr id="79" name="Text 77"/>
          <p:cNvSpPr/>
          <p:nvPr/>
        </p:nvSpPr>
        <p:spPr>
          <a:xfrm>
            <a:off x="6793992" y="987552"/>
            <a:ext cx="2148840" cy="274320"/>
          </a:xfrm>
          <a:prstGeom prst="rect">
            <a:avLst/>
          </a:prstGeom>
          <a:noFill/>
          <a:ln/>
        </p:spPr>
        <p:txBody>
          <a:bodyPr wrap="square" lIns="0" tIns="0" rIns="0" bIns="0" rtlCol="0" anchor="ctr"/>
          <a:lstStyle/>
          <a:p>
            <a:pPr algn="ctr" indent="0" marL="0">
              <a:buNone/>
            </a:pPr>
            <a:r>
              <a:rPr lang="en-US" sz="800" b="1" dirty="0">
                <a:solidFill>
                  <a:srgbClr val="FFFFFF"/>
                </a:solidFill>
              </a:rPr>
              <a:t>ANSWER PINPOINTED</a:t>
            </a:r>
            <a:endParaRPr lang="en-US" sz="800" dirty="0"/>
          </a:p>
        </p:txBody>
      </p:sp>
      <p:sp>
        <p:nvSpPr>
          <p:cNvPr id="80" name="Shape 78"/>
          <p:cNvSpPr/>
          <p:nvPr/>
        </p:nvSpPr>
        <p:spPr>
          <a:xfrm>
            <a:off x="6793992" y="1572768"/>
            <a:ext cx="0" cy="1261872"/>
          </a:xfrm>
          <a:prstGeom prst="line">
            <a:avLst/>
          </a:prstGeom>
          <a:noFill/>
          <a:ln w="10160">
            <a:solidFill>
              <a:srgbClr val="7C5CBF"/>
            </a:solidFill>
            <a:prstDash val="dash"/>
          </a:ln>
        </p:spPr>
      </p:sp>
      <p:sp>
        <p:nvSpPr>
          <p:cNvPr id="81" name="Shape 79"/>
          <p:cNvSpPr/>
          <p:nvPr/>
        </p:nvSpPr>
        <p:spPr>
          <a:xfrm>
            <a:off x="6793992" y="2103120"/>
            <a:ext cx="0" cy="731520"/>
          </a:xfrm>
          <a:prstGeom prst="line">
            <a:avLst/>
          </a:prstGeom>
          <a:noFill/>
          <a:ln w="10160">
            <a:solidFill>
              <a:srgbClr val="7C5CBF"/>
            </a:solidFill>
            <a:prstDash val="dash"/>
          </a:ln>
        </p:spPr>
      </p:sp>
      <p:sp>
        <p:nvSpPr>
          <p:cNvPr id="82" name="Shape 80"/>
          <p:cNvSpPr/>
          <p:nvPr/>
        </p:nvSpPr>
        <p:spPr>
          <a:xfrm>
            <a:off x="6793992" y="2633472"/>
            <a:ext cx="0" cy="201168"/>
          </a:xfrm>
          <a:prstGeom prst="line">
            <a:avLst/>
          </a:prstGeom>
          <a:noFill/>
          <a:ln w="10160">
            <a:solidFill>
              <a:srgbClr val="7C5CBF"/>
            </a:solidFill>
            <a:prstDash val="dash"/>
          </a:ln>
        </p:spPr>
      </p:sp>
      <p:sp>
        <p:nvSpPr>
          <p:cNvPr id="83" name="Shape 81"/>
          <p:cNvSpPr/>
          <p:nvPr/>
        </p:nvSpPr>
        <p:spPr>
          <a:xfrm>
            <a:off x="6793992" y="3163824"/>
            <a:ext cx="0" cy="-329184"/>
          </a:xfrm>
          <a:prstGeom prst="line">
            <a:avLst/>
          </a:prstGeom>
          <a:noFill/>
          <a:ln w="10160">
            <a:solidFill>
              <a:srgbClr val="7C5CBF"/>
            </a:solidFill>
            <a:prstDash val="dash"/>
          </a:ln>
        </p:spPr>
      </p:sp>
      <p:sp>
        <p:nvSpPr>
          <p:cNvPr id="84" name="Shape 82"/>
          <p:cNvSpPr/>
          <p:nvPr/>
        </p:nvSpPr>
        <p:spPr>
          <a:xfrm>
            <a:off x="6793992" y="3694176"/>
            <a:ext cx="0" cy="-859536"/>
          </a:xfrm>
          <a:prstGeom prst="line">
            <a:avLst/>
          </a:prstGeom>
          <a:noFill/>
          <a:ln w="10160">
            <a:solidFill>
              <a:srgbClr val="7C5CBF"/>
            </a:solidFill>
            <a:prstDash val="dash"/>
          </a:ln>
        </p:spPr>
      </p:sp>
      <p:sp>
        <p:nvSpPr>
          <p:cNvPr id="85" name="Shape 83"/>
          <p:cNvSpPr/>
          <p:nvPr/>
        </p:nvSpPr>
        <p:spPr>
          <a:xfrm>
            <a:off x="6793992" y="4224528"/>
            <a:ext cx="0" cy="-1389888"/>
          </a:xfrm>
          <a:prstGeom prst="line">
            <a:avLst/>
          </a:prstGeom>
          <a:noFill/>
          <a:ln w="10160">
            <a:solidFill>
              <a:srgbClr val="7C5CBF"/>
            </a:solidFill>
            <a:prstDash val="dash"/>
          </a:ln>
        </p:spPr>
      </p:sp>
      <p:sp>
        <p:nvSpPr>
          <p:cNvPr id="86" name="Shape 84"/>
          <p:cNvSpPr/>
          <p:nvPr/>
        </p:nvSpPr>
        <p:spPr>
          <a:xfrm>
            <a:off x="6793992" y="2011680"/>
            <a:ext cx="2148840" cy="2633472"/>
          </a:xfrm>
          <a:prstGeom prst="rect">
            <a:avLst/>
          </a:prstGeom>
          <a:solidFill>
            <a:srgbClr val="EDE8F7"/>
          </a:solidFill>
          <a:ln w="19050">
            <a:solidFill>
              <a:srgbClr val="7C5CBF"/>
            </a:solidFill>
            <a:prstDash val="solid"/>
          </a:ln>
        </p:spPr>
      </p:sp>
      <p:sp>
        <p:nvSpPr>
          <p:cNvPr id="87" name="Text 85"/>
          <p:cNvSpPr/>
          <p:nvPr/>
        </p:nvSpPr>
        <p:spPr>
          <a:xfrm>
            <a:off x="6876288" y="2084832"/>
            <a:ext cx="1993392" cy="228600"/>
          </a:xfrm>
          <a:prstGeom prst="rect">
            <a:avLst/>
          </a:prstGeom>
          <a:noFill/>
          <a:ln/>
        </p:spPr>
        <p:txBody>
          <a:bodyPr wrap="square" rtlCol="0" anchor="ctr"/>
          <a:lstStyle/>
          <a:p>
            <a:pPr indent="0" marL="0">
              <a:buNone/>
            </a:pPr>
            <a:r>
              <a:rPr lang="en-US" sz="800" b="1" dirty="0">
                <a:solidFill>
                  <a:srgbClr val="7C5CBF"/>
                </a:solidFill>
              </a:rPr>
              <a:t>VERIFIED ANSWER:</a:t>
            </a:r>
            <a:endParaRPr lang="en-US" sz="800" dirty="0"/>
          </a:p>
        </p:txBody>
      </p:sp>
      <p:sp>
        <p:nvSpPr>
          <p:cNvPr id="88" name="Text 86"/>
          <p:cNvSpPr/>
          <p:nvPr/>
        </p:nvSpPr>
        <p:spPr>
          <a:xfrm>
            <a:off x="6876288" y="2340864"/>
            <a:ext cx="1993392" cy="2176272"/>
          </a:xfrm>
          <a:prstGeom prst="rect">
            <a:avLst/>
          </a:prstGeom>
          <a:noFill/>
          <a:ln/>
        </p:spPr>
        <p:txBody>
          <a:bodyPr wrap="square" rtlCol="0" anchor="ctr"/>
          <a:lstStyle/>
          <a:p>
            <a:pPr indent="0" marL="0">
              <a:lnSpc>
                <a:spcPct val="130000"/>
              </a:lnSpc>
              <a:buNone/>
            </a:pPr>
            <a:r>
              <a:rPr lang="en-US" sz="880" b="1" dirty="0">
                <a:solidFill>
                  <a:srgbClr val="1F2937"/>
                </a:solidFill>
              </a:rPr>
              <a:t>"For 150×4.6mm C18, 50% ACN:
</a:t>
            </a:r>
            <a:pPr indent="0" marL="0">
              <a:lnSpc>
                <a:spcPct val="130000"/>
              </a:lnSpc>
              <a:buNone/>
            </a:pPr>
            <a:r>
              <a:rPr lang="en-US" sz="880" b="1" dirty="0">
                <a:solidFill>
                  <a:srgbClr val="5A3F9A"/>
                </a:solidFill>
              </a:rPr>
              <a:t>u_opt ≈ 1.2 mL/min</a:t>
            </a:r>
            <a:pPr indent="0" marL="0">
              <a:lnSpc>
                <a:spcPct val="130000"/>
              </a:lnSpc>
              <a:buNone/>
            </a:pPr>
            <a:r>
              <a:rPr lang="en-US" sz="880" dirty="0">
                <a:solidFill>
                  <a:srgbClr val="1F2937"/>
                </a:solidFill>
              </a:rPr>
              <a:t>
[HE-008, Ch.2 p.51]
</a:t>
            </a:r>
            <a:pPr indent="0" marL="0">
              <a:lnSpc>
                <a:spcPct val="130000"/>
              </a:lnSpc>
              <a:buNone/>
            </a:pPr>
            <a:r>
              <a:rPr lang="en-US" sz="880" dirty="0">
                <a:solidFill>
                  <a:srgbClr val="1F2937"/>
                </a:solidFill>
              </a:rPr>
              <a:t>Ibuprofen: k = 3.4
Paracetamol: k = 1.2
</a:t>
            </a:r>
            <a:pPr indent="0" marL="0">
              <a:lnSpc>
                <a:spcPct val="130000"/>
              </a:lnSpc>
              <a:buNone/>
            </a:pPr>
            <a:r>
              <a:rPr lang="en-US" sz="880" i="1" dirty="0">
                <a:solidFill>
                  <a:srgbClr val="7C5CBF"/>
                </a:solidFill>
              </a:rPr>
              <a:t>[HE-044, Ch.7 p.214]
</a:t>
            </a:r>
            <a:pPr indent="0" marL="0">
              <a:lnSpc>
                <a:spcPct val="130000"/>
              </a:lnSpc>
              <a:buNone/>
            </a:pPr>
            <a:r>
              <a:rPr lang="en-US" sz="880" dirty="0">
                <a:solidFill>
                  <a:srgbClr val="1F2937"/>
                </a:solidFill>
              </a:rPr>
              <a:t>Rs = 1.8 → baseline
separation confirmed
</a:t>
            </a:r>
            <a:pPr indent="0" marL="0">
              <a:lnSpc>
                <a:spcPct val="130000"/>
              </a:lnSpc>
              <a:buNone/>
            </a:pPr>
            <a:r>
              <a:rPr lang="en-US" sz="880" i="1" dirty="0">
                <a:solidFill>
                  <a:srgbClr val="7C5CBF"/>
                </a:solidFill>
              </a:rPr>
              <a:t>[HE-003, Ch.3 p.94]</a:t>
            </a:r>
            <a:endParaRPr lang="en-US" sz="880" dirty="0"/>
          </a:p>
        </p:txBody>
      </p:sp>
      <p:sp>
        <p:nvSpPr>
          <p:cNvPr id="89" name="Shape 87"/>
          <p:cNvSpPr/>
          <p:nvPr/>
        </p:nvSpPr>
        <p:spPr>
          <a:xfrm>
            <a:off x="6793992" y="4663440"/>
            <a:ext cx="2148840" cy="301752"/>
          </a:xfrm>
          <a:prstGeom prst="rect">
            <a:avLst/>
          </a:prstGeom>
          <a:solidFill>
            <a:srgbClr val="7C5CBF"/>
          </a:solidFill>
          <a:ln/>
        </p:spPr>
      </p:sp>
      <p:sp>
        <p:nvSpPr>
          <p:cNvPr id="90" name="Text 88"/>
          <p:cNvSpPr/>
          <p:nvPr/>
        </p:nvSpPr>
        <p:spPr>
          <a:xfrm>
            <a:off x="6793992" y="4681728"/>
            <a:ext cx="2148840" cy="256032"/>
          </a:xfrm>
          <a:prstGeom prst="rect">
            <a:avLst/>
          </a:prstGeom>
          <a:noFill/>
          <a:ln/>
        </p:spPr>
        <p:txBody>
          <a:bodyPr wrap="square" rtlCol="0" anchor="ctr"/>
          <a:lstStyle/>
          <a:p>
            <a:pPr algn="ctr" indent="0" marL="0">
              <a:buNone/>
            </a:pPr>
            <a:r>
              <a:rPr lang="en-US" sz="800" b="1" dirty="0">
                <a:solidFill>
                  <a:srgbClr val="FFFFFF"/>
                </a:solidFill>
              </a:rPr>
              <a:t>3 hyperedges  ·  3 citations  ·  0 gaps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C5CBF"/>
          </a:solidFill>
          <a:ln/>
        </p:spPr>
      </p:sp>
      <p:sp>
        <p:nvSpPr>
          <p:cNvPr id="3" name="Shape 1"/>
          <p:cNvSpPr/>
          <p:nvPr/>
        </p:nvSpPr>
        <p:spPr>
          <a:xfrm>
            <a:off x="0" y="5074920"/>
            <a:ext cx="9144000" cy="68580"/>
          </a:xfrm>
          <a:prstGeom prst="rect">
            <a:avLst/>
          </a:prstGeom>
          <a:solidFill>
            <a:srgbClr val="7C5CBF"/>
          </a:solidFill>
          <a:ln/>
        </p:spPr>
      </p:sp>
      <p:sp>
        <p:nvSpPr>
          <p:cNvPr id="4" name="Text 2"/>
          <p:cNvSpPr/>
          <p:nvPr/>
        </p:nvSpPr>
        <p:spPr>
          <a:xfrm>
            <a:off x="274320" y="146304"/>
            <a:ext cx="8595360" cy="402336"/>
          </a:xfrm>
          <a:prstGeom prst="rect">
            <a:avLst/>
          </a:prstGeom>
          <a:noFill/>
          <a:ln/>
        </p:spPr>
        <p:txBody>
          <a:bodyPr wrap="square" rtlCol="0" anchor="ctr"/>
          <a:lstStyle/>
          <a:p>
            <a:pPr indent="0" marL="0">
              <a:buNone/>
            </a:pPr>
            <a:r>
              <a:rPr lang="en-US" sz="1500" b="1" dirty="0">
                <a:solidFill>
                  <a:srgbClr val="1F2937"/>
                </a:solidFill>
              </a:rPr>
              <a:t>WHY FULLY AUTOMATED GRAPH GENERATION IS MORE POWERFUL — NOT LESS</a:t>
            </a:r>
            <a:endParaRPr lang="en-US" sz="1500" dirty="0"/>
          </a:p>
        </p:txBody>
      </p:sp>
      <p:sp>
        <p:nvSpPr>
          <p:cNvPr id="5" name="Text 3"/>
          <p:cNvSpPr/>
          <p:nvPr/>
        </p:nvSpPr>
        <p:spPr>
          <a:xfrm>
            <a:off x="274320" y="621792"/>
            <a:ext cx="8595360" cy="256032"/>
          </a:xfrm>
          <a:prstGeom prst="rect">
            <a:avLst/>
          </a:prstGeom>
          <a:noFill/>
          <a:ln/>
        </p:spPr>
        <p:txBody>
          <a:bodyPr wrap="square" rtlCol="0" anchor="ctr"/>
          <a:lstStyle/>
          <a:p>
            <a:pPr indent="0" marL="0">
              <a:buNone/>
            </a:pPr>
            <a:r>
              <a:rPr lang="en-US" sz="1050" b="1" i="1" dirty="0">
                <a:solidFill>
                  <a:srgbClr val="7C5CBF"/>
                </a:solidFill>
              </a:rPr>
              <a:t>"Without human intervention, how can we trust the LLM-generated graph?"  —  The scale argument answers this definitively.</a:t>
            </a:r>
            <a:endParaRPr lang="en-US" sz="1050" dirty="0"/>
          </a:p>
        </p:txBody>
      </p:sp>
      <p:sp>
        <p:nvSpPr>
          <p:cNvPr id="6" name="Shape 4"/>
          <p:cNvSpPr/>
          <p:nvPr/>
        </p:nvSpPr>
        <p:spPr>
          <a:xfrm>
            <a:off x="228600" y="960120"/>
            <a:ext cx="4206240" cy="347472"/>
          </a:xfrm>
          <a:prstGeom prst="rect">
            <a:avLst/>
          </a:prstGeom>
          <a:solidFill>
            <a:srgbClr val="DC2626"/>
          </a:solidFill>
          <a:ln/>
        </p:spPr>
      </p:sp>
      <p:sp>
        <p:nvSpPr>
          <p:cNvPr id="7" name="Text 5"/>
          <p:cNvSpPr/>
          <p:nvPr/>
        </p:nvSpPr>
        <p:spPr>
          <a:xfrm>
            <a:off x="228600" y="960120"/>
            <a:ext cx="4206240" cy="347472"/>
          </a:xfrm>
          <a:prstGeom prst="rect">
            <a:avLst/>
          </a:prstGeom>
          <a:noFill/>
          <a:ln/>
        </p:spPr>
        <p:txBody>
          <a:bodyPr wrap="square" lIns="0" tIns="0" rIns="0" bIns="0" rtlCol="0" anchor="ctr"/>
          <a:lstStyle/>
          <a:p>
            <a:pPr algn="ctr" indent="0" marL="0">
              <a:buNone/>
            </a:pPr>
            <a:r>
              <a:rPr lang="en-US" sz="1000" b="1" dirty="0">
                <a:solidFill>
                  <a:srgbClr val="FFFFFF"/>
                </a:solidFill>
              </a:rPr>
              <a:t>MANUAL / HUMAN-BUILT GRAPH</a:t>
            </a:r>
            <a:endParaRPr lang="en-US" sz="1000" dirty="0"/>
          </a:p>
        </p:txBody>
      </p:sp>
      <p:sp>
        <p:nvSpPr>
          <p:cNvPr id="8" name="Shape 6"/>
          <p:cNvSpPr/>
          <p:nvPr/>
        </p:nvSpPr>
        <p:spPr>
          <a:xfrm>
            <a:off x="4709160" y="960120"/>
            <a:ext cx="4206240" cy="347472"/>
          </a:xfrm>
          <a:prstGeom prst="rect">
            <a:avLst/>
          </a:prstGeom>
          <a:solidFill>
            <a:srgbClr val="7C5CBF"/>
          </a:solidFill>
          <a:ln/>
        </p:spPr>
      </p:sp>
      <p:sp>
        <p:nvSpPr>
          <p:cNvPr id="9" name="Text 7"/>
          <p:cNvSpPr/>
          <p:nvPr/>
        </p:nvSpPr>
        <p:spPr>
          <a:xfrm>
            <a:off x="4709160" y="960120"/>
            <a:ext cx="4206240" cy="347472"/>
          </a:xfrm>
          <a:prstGeom prst="rect">
            <a:avLst/>
          </a:prstGeom>
          <a:noFill/>
          <a:ln/>
        </p:spPr>
        <p:txBody>
          <a:bodyPr wrap="square" lIns="0" tIns="0" rIns="0" bIns="0" rtlCol="0" anchor="ctr"/>
          <a:lstStyle/>
          <a:p>
            <a:pPr algn="ctr" indent="0" marL="0">
              <a:buNone/>
            </a:pPr>
            <a:r>
              <a:rPr lang="en-US" sz="1000" b="1" dirty="0">
                <a:solidFill>
                  <a:srgbClr val="FFFFFF"/>
                </a:solidFill>
              </a:rPr>
              <a:t>AUTOMATED + SCHEMA-CONSTRAINED (OURS)</a:t>
            </a:r>
            <a:endParaRPr lang="en-US" sz="1000" dirty="0"/>
          </a:p>
        </p:txBody>
      </p:sp>
      <p:sp>
        <p:nvSpPr>
          <p:cNvPr id="10" name="Shape 8"/>
          <p:cNvSpPr/>
          <p:nvPr/>
        </p:nvSpPr>
        <p:spPr>
          <a:xfrm>
            <a:off x="228600" y="1389888"/>
            <a:ext cx="658368" cy="804672"/>
          </a:xfrm>
          <a:prstGeom prst="rect">
            <a:avLst/>
          </a:prstGeom>
          <a:solidFill>
            <a:srgbClr val="1F2937"/>
          </a:solidFill>
          <a:ln/>
        </p:spPr>
      </p:sp>
      <p:sp>
        <p:nvSpPr>
          <p:cNvPr id="11" name="Text 9"/>
          <p:cNvSpPr/>
          <p:nvPr/>
        </p:nvSpPr>
        <p:spPr>
          <a:xfrm>
            <a:off x="228600" y="1389888"/>
            <a:ext cx="658368" cy="804672"/>
          </a:xfrm>
          <a:prstGeom prst="rect">
            <a:avLst/>
          </a:prstGeom>
          <a:noFill/>
          <a:ln/>
        </p:spPr>
        <p:txBody>
          <a:bodyPr wrap="square" rtlCol="0" anchor="ctr"/>
          <a:lstStyle/>
          <a:p>
            <a:pPr algn="ctr" indent="0" marL="0">
              <a:buNone/>
            </a:pPr>
            <a:r>
              <a:rPr lang="en-US" sz="900" b="1" dirty="0">
                <a:solidFill>
                  <a:srgbClr val="FFFFFF"/>
                </a:solidFill>
              </a:rPr>
              <a:t>Scale</a:t>
            </a:r>
            <a:endParaRPr lang="en-US" sz="900" dirty="0"/>
          </a:p>
        </p:txBody>
      </p:sp>
      <p:sp>
        <p:nvSpPr>
          <p:cNvPr id="12" name="Shape 10"/>
          <p:cNvSpPr/>
          <p:nvPr/>
        </p:nvSpPr>
        <p:spPr>
          <a:xfrm>
            <a:off x="886968" y="1389888"/>
            <a:ext cx="3547872" cy="804672"/>
          </a:xfrm>
          <a:prstGeom prst="rect">
            <a:avLst/>
          </a:prstGeom>
          <a:solidFill>
            <a:srgbClr val="F7F5FB"/>
          </a:solidFill>
          <a:ln w="6350">
            <a:solidFill>
              <a:srgbClr val="D1D5DB"/>
            </a:solidFill>
            <a:prstDash val="solid"/>
          </a:ln>
        </p:spPr>
      </p:sp>
      <p:sp>
        <p:nvSpPr>
          <p:cNvPr id="13" name="Text 11"/>
          <p:cNvSpPr/>
          <p:nvPr/>
        </p:nvSpPr>
        <p:spPr>
          <a:xfrm>
            <a:off x="950976" y="1426464"/>
            <a:ext cx="3401568" cy="731520"/>
          </a:xfrm>
          <a:prstGeom prst="rect">
            <a:avLst/>
          </a:prstGeom>
          <a:noFill/>
          <a:ln/>
        </p:spPr>
        <p:txBody>
          <a:bodyPr wrap="square" rtlCol="0" anchor="ctr"/>
          <a:lstStyle/>
          <a:p>
            <a:pPr indent="0" marL="0">
              <a:buNone/>
            </a:pPr>
            <a:r>
              <a:rPr lang="en-US" sz="850" dirty="0">
                <a:solidFill>
                  <a:srgbClr val="1F2937"/>
                </a:solidFill>
              </a:rPr>
              <a:t>A domain expert can review ~50–100 pages/day. 2000 pages = 20–40 working days minimum. Concept drift and fatigue affect late-stage reviews.</a:t>
            </a:r>
            <a:endParaRPr lang="en-US" sz="850" dirty="0"/>
          </a:p>
        </p:txBody>
      </p:sp>
      <p:sp>
        <p:nvSpPr>
          <p:cNvPr id="14" name="Shape 12"/>
          <p:cNvSpPr/>
          <p:nvPr/>
        </p:nvSpPr>
        <p:spPr>
          <a:xfrm>
            <a:off x="4709160" y="1389888"/>
            <a:ext cx="4206240" cy="804672"/>
          </a:xfrm>
          <a:prstGeom prst="rect">
            <a:avLst/>
          </a:prstGeom>
          <a:solidFill>
            <a:srgbClr val="EDE8F7"/>
          </a:solidFill>
          <a:ln w="6350">
            <a:solidFill>
              <a:srgbClr val="7C5CBF"/>
            </a:solidFill>
            <a:prstDash val="solid"/>
          </a:ln>
        </p:spPr>
      </p:sp>
      <p:sp>
        <p:nvSpPr>
          <p:cNvPr id="15" name="Text 13"/>
          <p:cNvSpPr/>
          <p:nvPr/>
        </p:nvSpPr>
        <p:spPr>
          <a:xfrm>
            <a:off x="4773168" y="1426464"/>
            <a:ext cx="4041648" cy="731520"/>
          </a:xfrm>
          <a:prstGeom prst="rect">
            <a:avLst/>
          </a:prstGeom>
          <a:noFill/>
          <a:ln/>
        </p:spPr>
        <p:txBody>
          <a:bodyPr wrap="square" rtlCol="0" anchor="ctr"/>
          <a:lstStyle/>
          <a:p>
            <a:pPr indent="0" marL="0">
              <a:buNone/>
            </a:pPr>
            <a:r>
              <a:rPr lang="en-US" sz="850" dirty="0">
                <a:solidFill>
                  <a:srgbClr val="1F2937"/>
                </a:solidFill>
              </a:rPr>
              <a:t>LLM processes all 2000 pages in 2–3 hours. Consistent attention to every paragraph — no fatigue, no drift, no skipped sections.</a:t>
            </a:r>
            <a:endParaRPr lang="en-US" sz="850" dirty="0"/>
          </a:p>
        </p:txBody>
      </p:sp>
      <p:sp>
        <p:nvSpPr>
          <p:cNvPr id="16" name="Shape 14"/>
          <p:cNvSpPr/>
          <p:nvPr/>
        </p:nvSpPr>
        <p:spPr>
          <a:xfrm>
            <a:off x="228600" y="2276856"/>
            <a:ext cx="658368" cy="804672"/>
          </a:xfrm>
          <a:prstGeom prst="rect">
            <a:avLst/>
          </a:prstGeom>
          <a:solidFill>
            <a:srgbClr val="1F2937"/>
          </a:solidFill>
          <a:ln/>
        </p:spPr>
      </p:sp>
      <p:sp>
        <p:nvSpPr>
          <p:cNvPr id="17" name="Text 15"/>
          <p:cNvSpPr/>
          <p:nvPr/>
        </p:nvSpPr>
        <p:spPr>
          <a:xfrm>
            <a:off x="228600" y="2276856"/>
            <a:ext cx="658368" cy="804672"/>
          </a:xfrm>
          <a:prstGeom prst="rect">
            <a:avLst/>
          </a:prstGeom>
          <a:noFill/>
          <a:ln/>
        </p:spPr>
        <p:txBody>
          <a:bodyPr wrap="square" rtlCol="0" anchor="ctr"/>
          <a:lstStyle/>
          <a:p>
            <a:pPr algn="ctr" indent="0" marL="0">
              <a:buNone/>
            </a:pPr>
            <a:r>
              <a:rPr lang="en-US" sz="900" b="1" dirty="0">
                <a:solidFill>
                  <a:srgbClr val="FFFFFF"/>
                </a:solidFill>
              </a:rPr>
              <a:t>Consistency</a:t>
            </a:r>
            <a:endParaRPr lang="en-US" sz="900" dirty="0"/>
          </a:p>
        </p:txBody>
      </p:sp>
      <p:sp>
        <p:nvSpPr>
          <p:cNvPr id="18" name="Shape 16"/>
          <p:cNvSpPr/>
          <p:nvPr/>
        </p:nvSpPr>
        <p:spPr>
          <a:xfrm>
            <a:off x="886968" y="2276856"/>
            <a:ext cx="3547872" cy="804672"/>
          </a:xfrm>
          <a:prstGeom prst="rect">
            <a:avLst/>
          </a:prstGeom>
          <a:solidFill>
            <a:srgbClr val="FFFFFF"/>
          </a:solidFill>
          <a:ln w="6350">
            <a:solidFill>
              <a:srgbClr val="D1D5DB"/>
            </a:solidFill>
            <a:prstDash val="solid"/>
          </a:ln>
        </p:spPr>
      </p:sp>
      <p:sp>
        <p:nvSpPr>
          <p:cNvPr id="19" name="Text 17"/>
          <p:cNvSpPr/>
          <p:nvPr/>
        </p:nvSpPr>
        <p:spPr>
          <a:xfrm>
            <a:off x="950976" y="2313432"/>
            <a:ext cx="3401568" cy="731520"/>
          </a:xfrm>
          <a:prstGeom prst="rect">
            <a:avLst/>
          </a:prstGeom>
          <a:noFill/>
          <a:ln/>
        </p:spPr>
        <p:txBody>
          <a:bodyPr wrap="square" rtlCol="0" anchor="ctr"/>
          <a:lstStyle/>
          <a:p>
            <a:pPr indent="0" marL="0">
              <a:buNone/>
            </a:pPr>
            <a:r>
              <a:rPr lang="en-US" sz="850" dirty="0">
                <a:solidFill>
                  <a:srgbClr val="1F2937"/>
                </a:solidFill>
              </a:rPr>
              <a:t>Two different experts extract different entities from the same paragraph. Inter-annotator agreement in KG construction typically 70–80%. Conflicts require arbitration.</a:t>
            </a:r>
            <a:endParaRPr lang="en-US" sz="850" dirty="0"/>
          </a:p>
        </p:txBody>
      </p:sp>
      <p:sp>
        <p:nvSpPr>
          <p:cNvPr id="20" name="Shape 18"/>
          <p:cNvSpPr/>
          <p:nvPr/>
        </p:nvSpPr>
        <p:spPr>
          <a:xfrm>
            <a:off x="4709160" y="2276856"/>
            <a:ext cx="4206240" cy="804672"/>
          </a:xfrm>
          <a:prstGeom prst="rect">
            <a:avLst/>
          </a:prstGeom>
          <a:solidFill>
            <a:srgbClr val="FFFFFF"/>
          </a:solidFill>
          <a:ln w="6350">
            <a:solidFill>
              <a:srgbClr val="7C5CBF"/>
            </a:solidFill>
            <a:prstDash val="solid"/>
          </a:ln>
        </p:spPr>
      </p:sp>
      <p:sp>
        <p:nvSpPr>
          <p:cNvPr id="21" name="Text 19"/>
          <p:cNvSpPr/>
          <p:nvPr/>
        </p:nvSpPr>
        <p:spPr>
          <a:xfrm>
            <a:off x="4773168" y="2313432"/>
            <a:ext cx="4041648" cy="731520"/>
          </a:xfrm>
          <a:prstGeom prst="rect">
            <a:avLst/>
          </a:prstGeom>
          <a:noFill/>
          <a:ln/>
        </p:spPr>
        <p:txBody>
          <a:bodyPr wrap="square" rtlCol="0" anchor="ctr"/>
          <a:lstStyle/>
          <a:p>
            <a:pPr indent="0" marL="0">
              <a:buNone/>
            </a:pPr>
            <a:r>
              <a:rPr lang="en-US" sz="850" dirty="0">
                <a:solidFill>
                  <a:srgbClr val="1F2937"/>
                </a:solidFill>
              </a:rPr>
              <a:t>Same schema applied to every paragraph identically. No inter-annotator disagreement possible. Every extraction uses identical constraints.</a:t>
            </a:r>
            <a:endParaRPr lang="en-US" sz="850" dirty="0"/>
          </a:p>
        </p:txBody>
      </p:sp>
      <p:sp>
        <p:nvSpPr>
          <p:cNvPr id="22" name="Shape 20"/>
          <p:cNvSpPr/>
          <p:nvPr/>
        </p:nvSpPr>
        <p:spPr>
          <a:xfrm>
            <a:off x="228600" y="3163824"/>
            <a:ext cx="658368" cy="804672"/>
          </a:xfrm>
          <a:prstGeom prst="rect">
            <a:avLst/>
          </a:prstGeom>
          <a:solidFill>
            <a:srgbClr val="1F2937"/>
          </a:solidFill>
          <a:ln/>
        </p:spPr>
      </p:sp>
      <p:sp>
        <p:nvSpPr>
          <p:cNvPr id="23" name="Text 21"/>
          <p:cNvSpPr/>
          <p:nvPr/>
        </p:nvSpPr>
        <p:spPr>
          <a:xfrm>
            <a:off x="228600" y="3163824"/>
            <a:ext cx="658368" cy="804672"/>
          </a:xfrm>
          <a:prstGeom prst="rect">
            <a:avLst/>
          </a:prstGeom>
          <a:noFill/>
          <a:ln/>
        </p:spPr>
        <p:txBody>
          <a:bodyPr wrap="square" rtlCol="0" anchor="ctr"/>
          <a:lstStyle/>
          <a:p>
            <a:pPr algn="ctr" indent="0" marL="0">
              <a:buNone/>
            </a:pPr>
            <a:r>
              <a:rPr lang="en-US" sz="900" b="1" dirty="0">
                <a:solidFill>
                  <a:srgbClr val="FFFFFF"/>
                </a:solidFill>
              </a:rPr>
              <a:t>Coverage</a:t>
            </a:r>
            <a:endParaRPr lang="en-US" sz="900" dirty="0"/>
          </a:p>
        </p:txBody>
      </p:sp>
      <p:sp>
        <p:nvSpPr>
          <p:cNvPr id="24" name="Shape 22"/>
          <p:cNvSpPr/>
          <p:nvPr/>
        </p:nvSpPr>
        <p:spPr>
          <a:xfrm>
            <a:off x="886968" y="3163824"/>
            <a:ext cx="3547872" cy="804672"/>
          </a:xfrm>
          <a:prstGeom prst="rect">
            <a:avLst/>
          </a:prstGeom>
          <a:solidFill>
            <a:srgbClr val="F7F5FB"/>
          </a:solidFill>
          <a:ln w="6350">
            <a:solidFill>
              <a:srgbClr val="D1D5DB"/>
            </a:solidFill>
            <a:prstDash val="solid"/>
          </a:ln>
        </p:spPr>
      </p:sp>
      <p:sp>
        <p:nvSpPr>
          <p:cNvPr id="25" name="Text 23"/>
          <p:cNvSpPr/>
          <p:nvPr/>
        </p:nvSpPr>
        <p:spPr>
          <a:xfrm>
            <a:off x="950976" y="3200400"/>
            <a:ext cx="3401568" cy="731520"/>
          </a:xfrm>
          <a:prstGeom prst="rect">
            <a:avLst/>
          </a:prstGeom>
          <a:noFill/>
          <a:ln/>
        </p:spPr>
        <p:txBody>
          <a:bodyPr wrap="square" rtlCol="0" anchor="ctr"/>
          <a:lstStyle/>
          <a:p>
            <a:pPr indent="0" marL="0">
              <a:buNone/>
            </a:pPr>
            <a:r>
              <a:rPr lang="en-US" sz="850" dirty="0">
                <a:solidFill>
                  <a:srgbClr val="1F2937"/>
                </a:solidFill>
              </a:rPr>
              <a:t>Experts prioritise important-seeming sections. Footnotes, appendices, method tables frequently under-annotated or skipped.</a:t>
            </a:r>
            <a:endParaRPr lang="en-US" sz="850" dirty="0"/>
          </a:p>
        </p:txBody>
      </p:sp>
      <p:sp>
        <p:nvSpPr>
          <p:cNvPr id="26" name="Shape 24"/>
          <p:cNvSpPr/>
          <p:nvPr/>
        </p:nvSpPr>
        <p:spPr>
          <a:xfrm>
            <a:off x="4709160" y="3163824"/>
            <a:ext cx="4206240" cy="804672"/>
          </a:xfrm>
          <a:prstGeom prst="rect">
            <a:avLst/>
          </a:prstGeom>
          <a:solidFill>
            <a:srgbClr val="EDE8F7"/>
          </a:solidFill>
          <a:ln w="6350">
            <a:solidFill>
              <a:srgbClr val="7C5CBF"/>
            </a:solidFill>
            <a:prstDash val="solid"/>
          </a:ln>
        </p:spPr>
      </p:sp>
      <p:sp>
        <p:nvSpPr>
          <p:cNvPr id="27" name="Text 25"/>
          <p:cNvSpPr/>
          <p:nvPr/>
        </p:nvSpPr>
        <p:spPr>
          <a:xfrm>
            <a:off x="4773168" y="3200400"/>
            <a:ext cx="4041648" cy="731520"/>
          </a:xfrm>
          <a:prstGeom prst="rect">
            <a:avLst/>
          </a:prstGeom>
          <a:noFill/>
          <a:ln/>
        </p:spPr>
        <p:txBody>
          <a:bodyPr wrap="square" rtlCol="0" anchor="ctr"/>
          <a:lstStyle/>
          <a:p>
            <a:pPr indent="0" marL="0">
              <a:buNone/>
            </a:pPr>
            <a:r>
              <a:rPr lang="en-US" sz="850" dirty="0">
                <a:solidFill>
                  <a:srgbClr val="1F2937"/>
                </a:solidFill>
              </a:rPr>
              <a:t>Every paragraph processed. Footnotes, equations, appendix tables all extracted equally. Coverage is structural, not judgment-based.</a:t>
            </a:r>
            <a:endParaRPr lang="en-US" sz="850" dirty="0"/>
          </a:p>
        </p:txBody>
      </p:sp>
      <p:sp>
        <p:nvSpPr>
          <p:cNvPr id="28" name="Shape 26"/>
          <p:cNvSpPr/>
          <p:nvPr/>
        </p:nvSpPr>
        <p:spPr>
          <a:xfrm>
            <a:off x="228600" y="4050792"/>
            <a:ext cx="658368" cy="804672"/>
          </a:xfrm>
          <a:prstGeom prst="rect">
            <a:avLst/>
          </a:prstGeom>
          <a:solidFill>
            <a:srgbClr val="1F2937"/>
          </a:solidFill>
          <a:ln/>
        </p:spPr>
      </p:sp>
      <p:sp>
        <p:nvSpPr>
          <p:cNvPr id="29" name="Text 27"/>
          <p:cNvSpPr/>
          <p:nvPr/>
        </p:nvSpPr>
        <p:spPr>
          <a:xfrm>
            <a:off x="228600" y="4050792"/>
            <a:ext cx="658368" cy="804672"/>
          </a:xfrm>
          <a:prstGeom prst="rect">
            <a:avLst/>
          </a:prstGeom>
          <a:noFill/>
          <a:ln/>
        </p:spPr>
        <p:txBody>
          <a:bodyPr wrap="square" rtlCol="0" anchor="ctr"/>
          <a:lstStyle/>
          <a:p>
            <a:pPr algn="ctr" indent="0" marL="0">
              <a:buNone/>
            </a:pPr>
            <a:r>
              <a:rPr lang="en-US" sz="900" b="1" dirty="0">
                <a:solidFill>
                  <a:srgbClr val="FFFFFF"/>
                </a:solidFill>
              </a:rPr>
              <a:t>Update cost</a:t>
            </a:r>
            <a:endParaRPr lang="en-US" sz="900" dirty="0"/>
          </a:p>
        </p:txBody>
      </p:sp>
      <p:sp>
        <p:nvSpPr>
          <p:cNvPr id="30" name="Shape 28"/>
          <p:cNvSpPr/>
          <p:nvPr/>
        </p:nvSpPr>
        <p:spPr>
          <a:xfrm>
            <a:off x="886968" y="4050792"/>
            <a:ext cx="3547872" cy="804672"/>
          </a:xfrm>
          <a:prstGeom prst="rect">
            <a:avLst/>
          </a:prstGeom>
          <a:solidFill>
            <a:srgbClr val="FFFFFF"/>
          </a:solidFill>
          <a:ln w="6350">
            <a:solidFill>
              <a:srgbClr val="D1D5DB"/>
            </a:solidFill>
            <a:prstDash val="solid"/>
          </a:ln>
        </p:spPr>
      </p:sp>
      <p:sp>
        <p:nvSpPr>
          <p:cNvPr id="31" name="Text 29"/>
          <p:cNvSpPr/>
          <p:nvPr/>
        </p:nvSpPr>
        <p:spPr>
          <a:xfrm>
            <a:off x="950976" y="4087368"/>
            <a:ext cx="3401568" cy="731520"/>
          </a:xfrm>
          <a:prstGeom prst="rect">
            <a:avLst/>
          </a:prstGeom>
          <a:noFill/>
          <a:ln/>
        </p:spPr>
        <p:txBody>
          <a:bodyPr wrap="square" rtlCol="0" anchor="ctr"/>
          <a:lstStyle/>
          <a:p>
            <a:pPr indent="0" marL="0">
              <a:buNone/>
            </a:pPr>
            <a:r>
              <a:rPr lang="en-US" sz="850" dirty="0">
                <a:solidFill>
                  <a:srgbClr val="1F2937"/>
                </a:solidFill>
              </a:rPr>
              <a:t>New edition published → domain expert re-reviews all changed sections. Months of rework.</a:t>
            </a:r>
            <a:endParaRPr lang="en-US" sz="850" dirty="0"/>
          </a:p>
        </p:txBody>
      </p:sp>
      <p:sp>
        <p:nvSpPr>
          <p:cNvPr id="32" name="Shape 30"/>
          <p:cNvSpPr/>
          <p:nvPr/>
        </p:nvSpPr>
        <p:spPr>
          <a:xfrm>
            <a:off x="4709160" y="4050792"/>
            <a:ext cx="4206240" cy="804672"/>
          </a:xfrm>
          <a:prstGeom prst="rect">
            <a:avLst/>
          </a:prstGeom>
          <a:solidFill>
            <a:srgbClr val="FFFFFF"/>
          </a:solidFill>
          <a:ln w="6350">
            <a:solidFill>
              <a:srgbClr val="7C5CBF"/>
            </a:solidFill>
            <a:prstDash val="solid"/>
          </a:ln>
        </p:spPr>
      </p:sp>
      <p:sp>
        <p:nvSpPr>
          <p:cNvPr id="33" name="Text 31"/>
          <p:cNvSpPr/>
          <p:nvPr/>
        </p:nvSpPr>
        <p:spPr>
          <a:xfrm>
            <a:off x="4773168" y="4087368"/>
            <a:ext cx="4041648" cy="731520"/>
          </a:xfrm>
          <a:prstGeom prst="rect">
            <a:avLst/>
          </a:prstGeom>
          <a:noFill/>
          <a:ln/>
        </p:spPr>
        <p:txBody>
          <a:bodyPr wrap="square" rtlCol="0" anchor="ctr"/>
          <a:lstStyle/>
          <a:p>
            <a:pPr indent="0" marL="0">
              <a:buNone/>
            </a:pPr>
            <a:r>
              <a:rPr lang="en-US" sz="850" dirty="0">
                <a:solidFill>
                  <a:srgbClr val="1F2937"/>
                </a:solidFill>
              </a:rPr>
              <a:t>New chapters ingested overnight. Schema already validated. Only genuinely new entity types need expert review — typically &lt;5% of content.</a:t>
            </a:r>
            <a:endParaRPr lang="en-US" sz="850" dirty="0"/>
          </a:p>
        </p:txBody>
      </p:sp>
      <p:sp>
        <p:nvSpPr>
          <p:cNvPr id="34" name="Shape 32"/>
          <p:cNvSpPr/>
          <p:nvPr/>
        </p:nvSpPr>
        <p:spPr>
          <a:xfrm>
            <a:off x="228600" y="4956048"/>
            <a:ext cx="8686800" cy="54864"/>
          </a:xfrm>
          <a:prstGeom prst="rect">
            <a:avLst/>
          </a:prstGeom>
          <a:solidFill>
            <a:srgbClr val="7C5CBF"/>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C5CBF"/>
          </a:solidFill>
          <a:ln/>
        </p:spPr>
      </p:sp>
      <p:sp>
        <p:nvSpPr>
          <p:cNvPr id="3" name="Shape 1"/>
          <p:cNvSpPr/>
          <p:nvPr/>
        </p:nvSpPr>
        <p:spPr>
          <a:xfrm>
            <a:off x="0" y="5074920"/>
            <a:ext cx="9144000" cy="68580"/>
          </a:xfrm>
          <a:prstGeom prst="rect">
            <a:avLst/>
          </a:prstGeom>
          <a:solidFill>
            <a:srgbClr val="7C5CBF"/>
          </a:solidFill>
          <a:ln/>
        </p:spPr>
      </p:sp>
      <p:sp>
        <p:nvSpPr>
          <p:cNvPr id="4" name="Text 2"/>
          <p:cNvSpPr/>
          <p:nvPr/>
        </p:nvSpPr>
        <p:spPr>
          <a:xfrm>
            <a:off x="274320" y="146304"/>
            <a:ext cx="8595360" cy="402336"/>
          </a:xfrm>
          <a:prstGeom prst="rect">
            <a:avLst/>
          </a:prstGeom>
          <a:noFill/>
          <a:ln/>
        </p:spPr>
        <p:txBody>
          <a:bodyPr wrap="square" rtlCol="0" anchor="ctr"/>
          <a:lstStyle/>
          <a:p>
            <a:pPr indent="0" marL="0">
              <a:buNone/>
            </a:pPr>
            <a:r>
              <a:rPr lang="en-US" sz="1500" b="1" dirty="0">
                <a:solidFill>
                  <a:srgbClr val="1F2937"/>
                </a:solidFill>
              </a:rPr>
              <a:t>THE TRUST ARCHITECTURE — WHY THE AUTOMATED GRAPH IS RELIABLE</a:t>
            </a:r>
            <a:endParaRPr lang="en-US" sz="1500" dirty="0"/>
          </a:p>
        </p:txBody>
      </p:sp>
      <p:sp>
        <p:nvSpPr>
          <p:cNvPr id="5" name="Text 3"/>
          <p:cNvSpPr/>
          <p:nvPr/>
        </p:nvSpPr>
        <p:spPr>
          <a:xfrm>
            <a:off x="274320" y="621792"/>
            <a:ext cx="8595360" cy="256032"/>
          </a:xfrm>
          <a:prstGeom prst="rect">
            <a:avLst/>
          </a:prstGeom>
          <a:noFill/>
          <a:ln/>
        </p:spPr>
        <p:txBody>
          <a:bodyPr wrap="square" rtlCol="0" anchor="ctr"/>
          <a:lstStyle/>
          <a:p>
            <a:pPr indent="0" marL="0">
              <a:buNone/>
            </a:pPr>
            <a:r>
              <a:rPr lang="en-US" sz="1000" i="1" dirty="0">
                <a:solidFill>
                  <a:srgbClr val="6B7280"/>
                </a:solidFill>
              </a:rPr>
              <a:t>The question is not 'human vs machine'. It is 'unconstrained machine vs constrained machine'. We chose the latter, with five specific trust layers.</a:t>
            </a:r>
            <a:endParaRPr lang="en-US" sz="1000" dirty="0"/>
          </a:p>
        </p:txBody>
      </p:sp>
      <p:sp>
        <p:nvSpPr>
          <p:cNvPr id="6" name="Shape 4"/>
          <p:cNvSpPr/>
          <p:nvPr/>
        </p:nvSpPr>
        <p:spPr>
          <a:xfrm>
            <a:off x="182880" y="960120"/>
            <a:ext cx="4297680" cy="1252728"/>
          </a:xfrm>
          <a:prstGeom prst="rect">
            <a:avLst/>
          </a:prstGeom>
          <a:solidFill>
            <a:srgbClr val="F7F5FB"/>
          </a:solidFill>
          <a:ln w="10160">
            <a:solidFill>
              <a:srgbClr val="D1D5DB"/>
            </a:solidFill>
            <a:prstDash val="solid"/>
          </a:ln>
        </p:spPr>
      </p:sp>
      <p:sp>
        <p:nvSpPr>
          <p:cNvPr id="7" name="Shape 5"/>
          <p:cNvSpPr/>
          <p:nvPr/>
        </p:nvSpPr>
        <p:spPr>
          <a:xfrm>
            <a:off x="182880" y="960120"/>
            <a:ext cx="54864" cy="1252728"/>
          </a:xfrm>
          <a:prstGeom prst="rect">
            <a:avLst/>
          </a:prstGeom>
          <a:solidFill>
            <a:srgbClr val="7C5CBF"/>
          </a:solidFill>
          <a:ln/>
        </p:spPr>
      </p:sp>
      <p:sp>
        <p:nvSpPr>
          <p:cNvPr id="8" name="Shape 6"/>
          <p:cNvSpPr/>
          <p:nvPr/>
        </p:nvSpPr>
        <p:spPr>
          <a:xfrm>
            <a:off x="320040" y="1051560"/>
            <a:ext cx="411480" cy="347472"/>
          </a:xfrm>
          <a:prstGeom prst="rect">
            <a:avLst/>
          </a:prstGeom>
          <a:solidFill>
            <a:srgbClr val="7C5CBF"/>
          </a:solidFill>
          <a:ln/>
        </p:spPr>
      </p:sp>
      <p:sp>
        <p:nvSpPr>
          <p:cNvPr id="9" name="Text 7"/>
          <p:cNvSpPr/>
          <p:nvPr/>
        </p:nvSpPr>
        <p:spPr>
          <a:xfrm>
            <a:off x="320040" y="1051560"/>
            <a:ext cx="411480" cy="347472"/>
          </a:xfrm>
          <a:prstGeom prst="rect">
            <a:avLst/>
          </a:prstGeom>
          <a:noFill/>
          <a:ln/>
        </p:spPr>
        <p:txBody>
          <a:bodyPr wrap="square" lIns="0" tIns="0" rIns="0" bIns="0" rtlCol="0" anchor="ctr"/>
          <a:lstStyle/>
          <a:p>
            <a:pPr algn="ctr" indent="0" marL="0">
              <a:buNone/>
            </a:pPr>
            <a:r>
              <a:rPr lang="en-US" sz="1200" b="1" dirty="0">
                <a:solidFill>
                  <a:srgbClr val="FFFFFF"/>
                </a:solidFill>
              </a:rPr>
              <a:t>01</a:t>
            </a:r>
            <a:endParaRPr lang="en-US" sz="1200" dirty="0"/>
          </a:p>
        </p:txBody>
      </p:sp>
      <p:sp>
        <p:nvSpPr>
          <p:cNvPr id="10" name="Text 8"/>
          <p:cNvSpPr/>
          <p:nvPr/>
        </p:nvSpPr>
        <p:spPr>
          <a:xfrm>
            <a:off x="822960" y="1051560"/>
            <a:ext cx="3520440" cy="329184"/>
          </a:xfrm>
          <a:prstGeom prst="rect">
            <a:avLst/>
          </a:prstGeom>
          <a:noFill/>
          <a:ln/>
        </p:spPr>
        <p:txBody>
          <a:bodyPr wrap="square" rtlCol="0" anchor="ctr"/>
          <a:lstStyle/>
          <a:p>
            <a:pPr indent="0" marL="0">
              <a:buNone/>
            </a:pPr>
            <a:r>
              <a:rPr lang="en-US" sz="950" b="1" dirty="0">
                <a:solidFill>
                  <a:srgbClr val="1F2937"/>
                </a:solidFill>
              </a:rPr>
              <a:t>Ontology Schema as the Constitution</a:t>
            </a:r>
            <a:endParaRPr lang="en-US" sz="950" dirty="0"/>
          </a:p>
        </p:txBody>
      </p:sp>
      <p:sp>
        <p:nvSpPr>
          <p:cNvPr id="11" name="Text 9"/>
          <p:cNvSpPr/>
          <p:nvPr/>
        </p:nvSpPr>
        <p:spPr>
          <a:xfrm>
            <a:off x="347472" y="1417320"/>
            <a:ext cx="4023360" cy="429768"/>
          </a:xfrm>
          <a:prstGeom prst="rect">
            <a:avLst/>
          </a:prstGeom>
          <a:noFill/>
          <a:ln/>
        </p:spPr>
        <p:txBody>
          <a:bodyPr wrap="square" rtlCol="0" anchor="ctr"/>
          <a:lstStyle/>
          <a:p>
            <a:pPr indent="0" marL="0">
              <a:buNone/>
            </a:pPr>
            <a:r>
              <a:rPr lang="en-US" sz="820" dirty="0">
                <a:solidFill>
                  <a:srgbClr val="6B7280"/>
                </a:solidFill>
              </a:rPr>
              <a:t>The schema — 12 entity types, 9 relationship types — was built once with expert review. Every automated extraction is measured against this constitution. An LLM cannot create a new entity type at runtime. The expert's judgment is encoded structurally, not applied individually to each of 50,000 facts.</a:t>
            </a:r>
            <a:endParaRPr lang="en-US" sz="820" dirty="0"/>
          </a:p>
        </p:txBody>
      </p:sp>
      <p:sp>
        <p:nvSpPr>
          <p:cNvPr id="12" name="Shape 10"/>
          <p:cNvSpPr/>
          <p:nvPr/>
        </p:nvSpPr>
        <p:spPr>
          <a:xfrm>
            <a:off x="320040" y="1892808"/>
            <a:ext cx="4069080" cy="256032"/>
          </a:xfrm>
          <a:prstGeom prst="rect">
            <a:avLst/>
          </a:prstGeom>
          <a:solidFill>
            <a:srgbClr val="EDE8F7"/>
          </a:solidFill>
          <a:ln/>
        </p:spPr>
      </p:sp>
      <p:sp>
        <p:nvSpPr>
          <p:cNvPr id="13" name="Text 11"/>
          <p:cNvSpPr/>
          <p:nvPr/>
        </p:nvSpPr>
        <p:spPr>
          <a:xfrm>
            <a:off x="365760" y="1901952"/>
            <a:ext cx="4023360" cy="237744"/>
          </a:xfrm>
          <a:prstGeom prst="rect">
            <a:avLst/>
          </a:prstGeom>
          <a:noFill/>
          <a:ln/>
        </p:spPr>
        <p:txBody>
          <a:bodyPr wrap="square" rtlCol="0" anchor="ctr"/>
          <a:lstStyle/>
          <a:p>
            <a:pPr indent="0" marL="0">
              <a:buNone/>
            </a:pPr>
            <a:r>
              <a:rPr lang="en-US" sz="780" b="1" dirty="0">
                <a:solidFill>
                  <a:srgbClr val="5A3F9A"/>
                </a:solidFill>
              </a:rPr>
              <a:t>→ Expert judgment scaled ×50,000 without expert being present for each fact</a:t>
            </a:r>
            <a:endParaRPr lang="en-US" sz="780" dirty="0"/>
          </a:p>
        </p:txBody>
      </p:sp>
      <p:sp>
        <p:nvSpPr>
          <p:cNvPr id="14" name="Shape 12"/>
          <p:cNvSpPr/>
          <p:nvPr/>
        </p:nvSpPr>
        <p:spPr>
          <a:xfrm>
            <a:off x="182880" y="2304288"/>
            <a:ext cx="4297680" cy="1252728"/>
          </a:xfrm>
          <a:prstGeom prst="rect">
            <a:avLst/>
          </a:prstGeom>
          <a:solidFill>
            <a:srgbClr val="F7F5FB"/>
          </a:solidFill>
          <a:ln w="10160">
            <a:solidFill>
              <a:srgbClr val="D1D5DB"/>
            </a:solidFill>
            <a:prstDash val="solid"/>
          </a:ln>
        </p:spPr>
      </p:sp>
      <p:sp>
        <p:nvSpPr>
          <p:cNvPr id="15" name="Shape 13"/>
          <p:cNvSpPr/>
          <p:nvPr/>
        </p:nvSpPr>
        <p:spPr>
          <a:xfrm>
            <a:off x="182880" y="2304288"/>
            <a:ext cx="54864" cy="1252728"/>
          </a:xfrm>
          <a:prstGeom prst="rect">
            <a:avLst/>
          </a:prstGeom>
          <a:solidFill>
            <a:srgbClr val="7C5CBF"/>
          </a:solidFill>
          <a:ln/>
        </p:spPr>
      </p:sp>
      <p:sp>
        <p:nvSpPr>
          <p:cNvPr id="16" name="Shape 14"/>
          <p:cNvSpPr/>
          <p:nvPr/>
        </p:nvSpPr>
        <p:spPr>
          <a:xfrm>
            <a:off x="320040" y="2395728"/>
            <a:ext cx="411480" cy="347472"/>
          </a:xfrm>
          <a:prstGeom prst="rect">
            <a:avLst/>
          </a:prstGeom>
          <a:solidFill>
            <a:srgbClr val="7C5CBF"/>
          </a:solidFill>
          <a:ln/>
        </p:spPr>
      </p:sp>
      <p:sp>
        <p:nvSpPr>
          <p:cNvPr id="17" name="Text 15"/>
          <p:cNvSpPr/>
          <p:nvPr/>
        </p:nvSpPr>
        <p:spPr>
          <a:xfrm>
            <a:off x="320040" y="2395728"/>
            <a:ext cx="411480" cy="347472"/>
          </a:xfrm>
          <a:prstGeom prst="rect">
            <a:avLst/>
          </a:prstGeom>
          <a:noFill/>
          <a:ln/>
        </p:spPr>
        <p:txBody>
          <a:bodyPr wrap="square" lIns="0" tIns="0" rIns="0" bIns="0" rtlCol="0" anchor="ctr"/>
          <a:lstStyle/>
          <a:p>
            <a:pPr algn="ctr" indent="0" marL="0">
              <a:buNone/>
            </a:pPr>
            <a:r>
              <a:rPr lang="en-US" sz="1200" b="1" dirty="0">
                <a:solidFill>
                  <a:srgbClr val="FFFFFF"/>
                </a:solidFill>
              </a:rPr>
              <a:t>02</a:t>
            </a:r>
            <a:endParaRPr lang="en-US" sz="1200" dirty="0"/>
          </a:p>
        </p:txBody>
      </p:sp>
      <p:sp>
        <p:nvSpPr>
          <p:cNvPr id="18" name="Text 16"/>
          <p:cNvSpPr/>
          <p:nvPr/>
        </p:nvSpPr>
        <p:spPr>
          <a:xfrm>
            <a:off x="822960" y="2395728"/>
            <a:ext cx="3520440" cy="329184"/>
          </a:xfrm>
          <a:prstGeom prst="rect">
            <a:avLst/>
          </a:prstGeom>
          <a:noFill/>
          <a:ln/>
        </p:spPr>
        <p:txBody>
          <a:bodyPr wrap="square" rtlCol="0" anchor="ctr"/>
          <a:lstStyle/>
          <a:p>
            <a:pPr indent="0" marL="0">
              <a:buNone/>
            </a:pPr>
            <a:r>
              <a:rPr lang="en-US" sz="950" b="1" dirty="0">
                <a:solidFill>
                  <a:srgbClr val="1F2937"/>
                </a:solidFill>
              </a:rPr>
              <a:t>Constraint Validator at Ingestion Gate</a:t>
            </a:r>
            <a:endParaRPr lang="en-US" sz="950" dirty="0"/>
          </a:p>
        </p:txBody>
      </p:sp>
      <p:sp>
        <p:nvSpPr>
          <p:cNvPr id="19" name="Text 17"/>
          <p:cNvSpPr/>
          <p:nvPr/>
        </p:nvSpPr>
        <p:spPr>
          <a:xfrm>
            <a:off x="347472" y="2761488"/>
            <a:ext cx="4023360" cy="429768"/>
          </a:xfrm>
          <a:prstGeom prst="rect">
            <a:avLst/>
          </a:prstGeom>
          <a:noFill/>
          <a:ln/>
        </p:spPr>
        <p:txBody>
          <a:bodyPr wrap="square" rtlCol="0" anchor="ctr"/>
          <a:lstStyle/>
          <a:p>
            <a:pPr indent="0" marL="0">
              <a:buNone/>
            </a:pPr>
            <a:r>
              <a:rPr lang="en-US" sz="820" dirty="0">
                <a:solidFill>
                  <a:srgbClr val="6B7280"/>
                </a:solidFill>
              </a:rPr>
              <a:t>Every extracted triple is validated against schema rules before it enters the hypergraph. Violation = rejection. This is not a soft check — it is a hard gate. The validator runs deterministically, with zero variance. No hallucinated relationship type can pass it. No spurious entity survives if it is not in the approved taxonomy.</a:t>
            </a:r>
            <a:endParaRPr lang="en-US" sz="820" dirty="0"/>
          </a:p>
        </p:txBody>
      </p:sp>
      <p:sp>
        <p:nvSpPr>
          <p:cNvPr id="20" name="Shape 18"/>
          <p:cNvSpPr/>
          <p:nvPr/>
        </p:nvSpPr>
        <p:spPr>
          <a:xfrm>
            <a:off x="320040" y="3236976"/>
            <a:ext cx="4069080" cy="256032"/>
          </a:xfrm>
          <a:prstGeom prst="rect">
            <a:avLst/>
          </a:prstGeom>
          <a:solidFill>
            <a:srgbClr val="EDE8F7"/>
          </a:solidFill>
          <a:ln/>
        </p:spPr>
      </p:sp>
      <p:sp>
        <p:nvSpPr>
          <p:cNvPr id="21" name="Text 19"/>
          <p:cNvSpPr/>
          <p:nvPr/>
        </p:nvSpPr>
        <p:spPr>
          <a:xfrm>
            <a:off x="365760" y="3246120"/>
            <a:ext cx="4023360" cy="237744"/>
          </a:xfrm>
          <a:prstGeom prst="rect">
            <a:avLst/>
          </a:prstGeom>
          <a:noFill/>
          <a:ln/>
        </p:spPr>
        <p:txBody>
          <a:bodyPr wrap="square" rtlCol="0" anchor="ctr"/>
          <a:lstStyle/>
          <a:p>
            <a:pPr indent="0" marL="0">
              <a:buNone/>
            </a:pPr>
            <a:r>
              <a:rPr lang="en-US" sz="780" b="1" dirty="0">
                <a:solidFill>
                  <a:srgbClr val="5A3F9A"/>
                </a:solidFill>
              </a:rPr>
              <a:t>→ Structural prevention, not post-hoc correction</a:t>
            </a:r>
            <a:endParaRPr lang="en-US" sz="780" dirty="0"/>
          </a:p>
        </p:txBody>
      </p:sp>
      <p:sp>
        <p:nvSpPr>
          <p:cNvPr id="22" name="Shape 20"/>
          <p:cNvSpPr/>
          <p:nvPr/>
        </p:nvSpPr>
        <p:spPr>
          <a:xfrm>
            <a:off x="182880" y="3648456"/>
            <a:ext cx="4297680" cy="1252728"/>
          </a:xfrm>
          <a:prstGeom prst="rect">
            <a:avLst/>
          </a:prstGeom>
          <a:solidFill>
            <a:srgbClr val="F7F5FB"/>
          </a:solidFill>
          <a:ln w="10160">
            <a:solidFill>
              <a:srgbClr val="D1D5DB"/>
            </a:solidFill>
            <a:prstDash val="solid"/>
          </a:ln>
        </p:spPr>
      </p:sp>
      <p:sp>
        <p:nvSpPr>
          <p:cNvPr id="23" name="Shape 21"/>
          <p:cNvSpPr/>
          <p:nvPr/>
        </p:nvSpPr>
        <p:spPr>
          <a:xfrm>
            <a:off x="182880" y="3648456"/>
            <a:ext cx="54864" cy="1252728"/>
          </a:xfrm>
          <a:prstGeom prst="rect">
            <a:avLst/>
          </a:prstGeom>
          <a:solidFill>
            <a:srgbClr val="7C5CBF"/>
          </a:solidFill>
          <a:ln/>
        </p:spPr>
      </p:sp>
      <p:sp>
        <p:nvSpPr>
          <p:cNvPr id="24" name="Shape 22"/>
          <p:cNvSpPr/>
          <p:nvPr/>
        </p:nvSpPr>
        <p:spPr>
          <a:xfrm>
            <a:off x="320040" y="3739896"/>
            <a:ext cx="411480" cy="347472"/>
          </a:xfrm>
          <a:prstGeom prst="rect">
            <a:avLst/>
          </a:prstGeom>
          <a:solidFill>
            <a:srgbClr val="7C5CBF"/>
          </a:solidFill>
          <a:ln/>
        </p:spPr>
      </p:sp>
      <p:sp>
        <p:nvSpPr>
          <p:cNvPr id="25" name="Text 23"/>
          <p:cNvSpPr/>
          <p:nvPr/>
        </p:nvSpPr>
        <p:spPr>
          <a:xfrm>
            <a:off x="320040" y="3739896"/>
            <a:ext cx="411480" cy="347472"/>
          </a:xfrm>
          <a:prstGeom prst="rect">
            <a:avLst/>
          </a:prstGeom>
          <a:noFill/>
          <a:ln/>
        </p:spPr>
        <p:txBody>
          <a:bodyPr wrap="square" lIns="0" tIns="0" rIns="0" bIns="0" rtlCol="0" anchor="ctr"/>
          <a:lstStyle/>
          <a:p>
            <a:pPr algn="ctr" indent="0" marL="0">
              <a:buNone/>
            </a:pPr>
            <a:r>
              <a:rPr lang="en-US" sz="1200" b="1" dirty="0">
                <a:solidFill>
                  <a:srgbClr val="FFFFFF"/>
                </a:solidFill>
              </a:rPr>
              <a:t>03</a:t>
            </a:r>
            <a:endParaRPr lang="en-US" sz="1200" dirty="0"/>
          </a:p>
        </p:txBody>
      </p:sp>
      <p:sp>
        <p:nvSpPr>
          <p:cNvPr id="26" name="Text 24"/>
          <p:cNvSpPr/>
          <p:nvPr/>
        </p:nvSpPr>
        <p:spPr>
          <a:xfrm>
            <a:off x="822960" y="3739896"/>
            <a:ext cx="3520440" cy="329184"/>
          </a:xfrm>
          <a:prstGeom prst="rect">
            <a:avLst/>
          </a:prstGeom>
          <a:noFill/>
          <a:ln/>
        </p:spPr>
        <p:txBody>
          <a:bodyPr wrap="square" rtlCol="0" anchor="ctr"/>
          <a:lstStyle/>
          <a:p>
            <a:pPr indent="0" marL="0">
              <a:buNone/>
            </a:pPr>
            <a:r>
              <a:rPr lang="en-US" sz="950" b="1" dirty="0">
                <a:solidFill>
                  <a:srgbClr val="1F2937"/>
                </a:solidFill>
              </a:rPr>
              <a:t>CHMO Canonical Aligner</a:t>
            </a:r>
            <a:endParaRPr lang="en-US" sz="950" dirty="0"/>
          </a:p>
        </p:txBody>
      </p:sp>
      <p:sp>
        <p:nvSpPr>
          <p:cNvPr id="27" name="Text 25"/>
          <p:cNvSpPr/>
          <p:nvPr/>
        </p:nvSpPr>
        <p:spPr>
          <a:xfrm>
            <a:off x="347472" y="4105656"/>
            <a:ext cx="4023360" cy="429768"/>
          </a:xfrm>
          <a:prstGeom prst="rect">
            <a:avLst/>
          </a:prstGeom>
          <a:noFill/>
          <a:ln/>
        </p:spPr>
        <p:txBody>
          <a:bodyPr wrap="square" rtlCol="0" anchor="ctr"/>
          <a:lstStyle/>
          <a:p>
            <a:pPr indent="0" marL="0">
              <a:buNone/>
            </a:pPr>
            <a:r>
              <a:rPr lang="en-US" sz="820" dirty="0">
                <a:solidFill>
                  <a:srgbClr val="6B7280"/>
                </a:solidFill>
              </a:rPr>
              <a:t>The Chemical Method Ontology aligner maps every extracted entity name to a canonical term. 'Mobile phase', 'eluent', 'solvent mixture', 'carrier solvent' → one canonical node. This is not an LLM judgment call — it is a deterministic lookup against a peer-reviewed ontology that has existed in analytical chemistry for over a decade.</a:t>
            </a:r>
            <a:endParaRPr lang="en-US" sz="820" dirty="0"/>
          </a:p>
        </p:txBody>
      </p:sp>
      <p:sp>
        <p:nvSpPr>
          <p:cNvPr id="28" name="Shape 26"/>
          <p:cNvSpPr/>
          <p:nvPr/>
        </p:nvSpPr>
        <p:spPr>
          <a:xfrm>
            <a:off x="320040" y="4581144"/>
            <a:ext cx="4069080" cy="256032"/>
          </a:xfrm>
          <a:prstGeom prst="rect">
            <a:avLst/>
          </a:prstGeom>
          <a:solidFill>
            <a:srgbClr val="EDE8F7"/>
          </a:solidFill>
          <a:ln/>
        </p:spPr>
      </p:sp>
      <p:sp>
        <p:nvSpPr>
          <p:cNvPr id="29" name="Text 27"/>
          <p:cNvSpPr/>
          <p:nvPr/>
        </p:nvSpPr>
        <p:spPr>
          <a:xfrm>
            <a:off x="365760" y="4590288"/>
            <a:ext cx="4023360" cy="237744"/>
          </a:xfrm>
          <a:prstGeom prst="rect">
            <a:avLst/>
          </a:prstGeom>
          <a:noFill/>
          <a:ln/>
        </p:spPr>
        <p:txBody>
          <a:bodyPr wrap="square" rtlCol="0" anchor="ctr"/>
          <a:lstStyle/>
          <a:p>
            <a:pPr indent="0" marL="0">
              <a:buNone/>
            </a:pPr>
            <a:r>
              <a:rPr lang="en-US" sz="780" b="1" dirty="0">
                <a:solidFill>
                  <a:srgbClr val="5A3F9A"/>
                </a:solidFill>
              </a:rPr>
              <a:t>→ Synonymy resolved by published ontology, not by model inference</a:t>
            </a:r>
            <a:endParaRPr lang="en-US" sz="780" dirty="0"/>
          </a:p>
        </p:txBody>
      </p:sp>
      <p:sp>
        <p:nvSpPr>
          <p:cNvPr id="30" name="Shape 28"/>
          <p:cNvSpPr/>
          <p:nvPr/>
        </p:nvSpPr>
        <p:spPr>
          <a:xfrm>
            <a:off x="4663440" y="960120"/>
            <a:ext cx="4297680" cy="1252728"/>
          </a:xfrm>
          <a:prstGeom prst="rect">
            <a:avLst/>
          </a:prstGeom>
          <a:solidFill>
            <a:srgbClr val="F7F5FB"/>
          </a:solidFill>
          <a:ln w="10160">
            <a:solidFill>
              <a:srgbClr val="D1D5DB"/>
            </a:solidFill>
            <a:prstDash val="solid"/>
          </a:ln>
        </p:spPr>
      </p:sp>
      <p:sp>
        <p:nvSpPr>
          <p:cNvPr id="31" name="Shape 29"/>
          <p:cNvSpPr/>
          <p:nvPr/>
        </p:nvSpPr>
        <p:spPr>
          <a:xfrm>
            <a:off x="4663440" y="960120"/>
            <a:ext cx="54864" cy="1252728"/>
          </a:xfrm>
          <a:prstGeom prst="rect">
            <a:avLst/>
          </a:prstGeom>
          <a:solidFill>
            <a:srgbClr val="7C5CBF"/>
          </a:solidFill>
          <a:ln/>
        </p:spPr>
      </p:sp>
      <p:sp>
        <p:nvSpPr>
          <p:cNvPr id="32" name="Shape 30"/>
          <p:cNvSpPr/>
          <p:nvPr/>
        </p:nvSpPr>
        <p:spPr>
          <a:xfrm>
            <a:off x="4800600" y="1051560"/>
            <a:ext cx="411480" cy="347472"/>
          </a:xfrm>
          <a:prstGeom prst="rect">
            <a:avLst/>
          </a:prstGeom>
          <a:solidFill>
            <a:srgbClr val="7C5CBF"/>
          </a:solidFill>
          <a:ln/>
        </p:spPr>
      </p:sp>
      <p:sp>
        <p:nvSpPr>
          <p:cNvPr id="33" name="Text 31"/>
          <p:cNvSpPr/>
          <p:nvPr/>
        </p:nvSpPr>
        <p:spPr>
          <a:xfrm>
            <a:off x="4800600" y="1051560"/>
            <a:ext cx="411480" cy="347472"/>
          </a:xfrm>
          <a:prstGeom prst="rect">
            <a:avLst/>
          </a:prstGeom>
          <a:noFill/>
          <a:ln/>
        </p:spPr>
        <p:txBody>
          <a:bodyPr wrap="square" lIns="0" tIns="0" rIns="0" bIns="0" rtlCol="0" anchor="ctr"/>
          <a:lstStyle/>
          <a:p>
            <a:pPr algn="ctr" indent="0" marL="0">
              <a:buNone/>
            </a:pPr>
            <a:r>
              <a:rPr lang="en-US" sz="1200" b="1" dirty="0">
                <a:solidFill>
                  <a:srgbClr val="FFFFFF"/>
                </a:solidFill>
              </a:rPr>
              <a:t>04</a:t>
            </a:r>
            <a:endParaRPr lang="en-US" sz="1200" dirty="0"/>
          </a:p>
        </p:txBody>
      </p:sp>
      <p:sp>
        <p:nvSpPr>
          <p:cNvPr id="34" name="Text 32"/>
          <p:cNvSpPr/>
          <p:nvPr/>
        </p:nvSpPr>
        <p:spPr>
          <a:xfrm>
            <a:off x="5303520" y="1051560"/>
            <a:ext cx="3520440" cy="329184"/>
          </a:xfrm>
          <a:prstGeom prst="rect">
            <a:avLst/>
          </a:prstGeom>
          <a:noFill/>
          <a:ln/>
        </p:spPr>
        <p:txBody>
          <a:bodyPr wrap="square" rtlCol="0" anchor="ctr"/>
          <a:lstStyle/>
          <a:p>
            <a:pPr indent="0" marL="0">
              <a:buNone/>
            </a:pPr>
            <a:r>
              <a:rPr lang="en-US" sz="950" b="1" dirty="0">
                <a:solidFill>
                  <a:srgbClr val="1F2937"/>
                </a:solidFill>
              </a:rPr>
              <a:t>Singleton Filter + Conflict Detector</a:t>
            </a:r>
            <a:endParaRPr lang="en-US" sz="950" dirty="0"/>
          </a:p>
        </p:txBody>
      </p:sp>
      <p:sp>
        <p:nvSpPr>
          <p:cNvPr id="35" name="Text 33"/>
          <p:cNvSpPr/>
          <p:nvPr/>
        </p:nvSpPr>
        <p:spPr>
          <a:xfrm>
            <a:off x="4828032" y="1417320"/>
            <a:ext cx="4023360" cy="429768"/>
          </a:xfrm>
          <a:prstGeom prst="rect">
            <a:avLst/>
          </a:prstGeom>
          <a:noFill/>
          <a:ln/>
        </p:spPr>
        <p:txBody>
          <a:bodyPr wrap="square" rtlCol="0" anchor="ctr"/>
          <a:lstStyle/>
          <a:p>
            <a:pPr indent="0" marL="0">
              <a:buNone/>
            </a:pPr>
            <a:r>
              <a:rPr lang="en-US" sz="820" dirty="0">
                <a:solidFill>
                  <a:srgbClr val="6B7280"/>
                </a:solidFill>
              </a:rPr>
              <a:t>Entities appearing only once across 2000 pages are noise by probability and are removed from the graph (but retained in FAISS). Relationship pairs that contradict each other ('X increases Y' and 'X decreases Y') are flagged automatically for inspection. These are algorithmic checks with no LLM involvement.</a:t>
            </a:r>
            <a:endParaRPr lang="en-US" sz="820" dirty="0"/>
          </a:p>
        </p:txBody>
      </p:sp>
      <p:sp>
        <p:nvSpPr>
          <p:cNvPr id="36" name="Shape 34"/>
          <p:cNvSpPr/>
          <p:nvPr/>
        </p:nvSpPr>
        <p:spPr>
          <a:xfrm>
            <a:off x="4800600" y="1892808"/>
            <a:ext cx="4069080" cy="256032"/>
          </a:xfrm>
          <a:prstGeom prst="rect">
            <a:avLst/>
          </a:prstGeom>
          <a:solidFill>
            <a:srgbClr val="EDE8F7"/>
          </a:solidFill>
          <a:ln/>
        </p:spPr>
      </p:sp>
      <p:sp>
        <p:nvSpPr>
          <p:cNvPr id="37" name="Text 35"/>
          <p:cNvSpPr/>
          <p:nvPr/>
        </p:nvSpPr>
        <p:spPr>
          <a:xfrm>
            <a:off x="4846320" y="1901952"/>
            <a:ext cx="4023360" cy="237744"/>
          </a:xfrm>
          <a:prstGeom prst="rect">
            <a:avLst/>
          </a:prstGeom>
          <a:noFill/>
          <a:ln/>
        </p:spPr>
        <p:txBody>
          <a:bodyPr wrap="square" rtlCol="0" anchor="ctr"/>
          <a:lstStyle/>
          <a:p>
            <a:pPr indent="0" marL="0">
              <a:buNone/>
            </a:pPr>
            <a:r>
              <a:rPr lang="en-US" sz="780" b="1" dirty="0">
                <a:solidFill>
                  <a:srgbClr val="5A3F9A"/>
                </a:solidFill>
              </a:rPr>
              <a:t>→ Noise removed deterministically. Contradictions surfaced automatically.</a:t>
            </a:r>
            <a:endParaRPr lang="en-US" sz="780" dirty="0"/>
          </a:p>
        </p:txBody>
      </p:sp>
      <p:sp>
        <p:nvSpPr>
          <p:cNvPr id="38" name="Shape 36"/>
          <p:cNvSpPr/>
          <p:nvPr/>
        </p:nvSpPr>
        <p:spPr>
          <a:xfrm>
            <a:off x="4663440" y="2304288"/>
            <a:ext cx="4297680" cy="1719072"/>
          </a:xfrm>
          <a:prstGeom prst="rect">
            <a:avLst/>
          </a:prstGeom>
          <a:solidFill>
            <a:srgbClr val="F7F5FB"/>
          </a:solidFill>
          <a:ln w="10160">
            <a:solidFill>
              <a:srgbClr val="D1D5DB"/>
            </a:solidFill>
            <a:prstDash val="solid"/>
          </a:ln>
        </p:spPr>
      </p:sp>
      <p:sp>
        <p:nvSpPr>
          <p:cNvPr id="39" name="Shape 37"/>
          <p:cNvSpPr/>
          <p:nvPr/>
        </p:nvSpPr>
        <p:spPr>
          <a:xfrm>
            <a:off x="4663440" y="2304288"/>
            <a:ext cx="54864" cy="1719072"/>
          </a:xfrm>
          <a:prstGeom prst="rect">
            <a:avLst/>
          </a:prstGeom>
          <a:solidFill>
            <a:srgbClr val="7C5CBF"/>
          </a:solidFill>
          <a:ln/>
        </p:spPr>
      </p:sp>
      <p:sp>
        <p:nvSpPr>
          <p:cNvPr id="40" name="Shape 38"/>
          <p:cNvSpPr/>
          <p:nvPr/>
        </p:nvSpPr>
        <p:spPr>
          <a:xfrm>
            <a:off x="4800600" y="2395728"/>
            <a:ext cx="411480" cy="347472"/>
          </a:xfrm>
          <a:prstGeom prst="rect">
            <a:avLst/>
          </a:prstGeom>
          <a:solidFill>
            <a:srgbClr val="7C5CBF"/>
          </a:solidFill>
          <a:ln/>
        </p:spPr>
      </p:sp>
      <p:sp>
        <p:nvSpPr>
          <p:cNvPr id="41" name="Text 39"/>
          <p:cNvSpPr/>
          <p:nvPr/>
        </p:nvSpPr>
        <p:spPr>
          <a:xfrm>
            <a:off x="4800600" y="2395728"/>
            <a:ext cx="411480" cy="347472"/>
          </a:xfrm>
          <a:prstGeom prst="rect">
            <a:avLst/>
          </a:prstGeom>
          <a:noFill/>
          <a:ln/>
        </p:spPr>
        <p:txBody>
          <a:bodyPr wrap="square" lIns="0" tIns="0" rIns="0" bIns="0" rtlCol="0" anchor="ctr"/>
          <a:lstStyle/>
          <a:p>
            <a:pPr algn="ctr" indent="0" marL="0">
              <a:buNone/>
            </a:pPr>
            <a:r>
              <a:rPr lang="en-US" sz="1200" b="1" dirty="0">
                <a:solidFill>
                  <a:srgbClr val="FFFFFF"/>
                </a:solidFill>
              </a:rPr>
              <a:t>05</a:t>
            </a:r>
            <a:endParaRPr lang="en-US" sz="1200" dirty="0"/>
          </a:p>
        </p:txBody>
      </p:sp>
      <p:sp>
        <p:nvSpPr>
          <p:cNvPr id="42" name="Text 40"/>
          <p:cNvSpPr/>
          <p:nvPr/>
        </p:nvSpPr>
        <p:spPr>
          <a:xfrm>
            <a:off x="5303520" y="2395728"/>
            <a:ext cx="3520440" cy="329184"/>
          </a:xfrm>
          <a:prstGeom prst="rect">
            <a:avLst/>
          </a:prstGeom>
          <a:noFill/>
          <a:ln/>
        </p:spPr>
        <p:txBody>
          <a:bodyPr wrap="square" rtlCol="0" anchor="ctr"/>
          <a:lstStyle/>
          <a:p>
            <a:pPr indent="0" marL="0">
              <a:buNone/>
            </a:pPr>
            <a:r>
              <a:rPr lang="en-US" sz="950" b="1" dirty="0">
                <a:solidFill>
                  <a:srgbClr val="1F2937"/>
                </a:solidFill>
              </a:rPr>
              <a:t>NLI Verification Closes the Loop</a:t>
            </a:r>
            <a:endParaRPr lang="en-US" sz="950" dirty="0"/>
          </a:p>
        </p:txBody>
      </p:sp>
      <p:sp>
        <p:nvSpPr>
          <p:cNvPr id="43" name="Text 41"/>
          <p:cNvSpPr/>
          <p:nvPr/>
        </p:nvSpPr>
        <p:spPr>
          <a:xfrm>
            <a:off x="4828032" y="2761488"/>
            <a:ext cx="4023360" cy="896112"/>
          </a:xfrm>
          <a:prstGeom prst="rect">
            <a:avLst/>
          </a:prstGeom>
          <a:noFill/>
          <a:ln/>
        </p:spPr>
        <p:txBody>
          <a:bodyPr wrap="square" rtlCol="0" anchor="ctr"/>
          <a:lstStyle/>
          <a:p>
            <a:pPr indent="0" marL="0">
              <a:buNone/>
            </a:pPr>
            <a:r>
              <a:rPr lang="en-US" sz="820" dirty="0">
                <a:solidFill>
                  <a:srgbClr val="6B7280"/>
                </a:solidFill>
              </a:rPr>
              <a:t>At query time, every output sentence is verified against the retrieved hyperedge by a Natural Language Inference model. If the hyperedge does not entail the claim, the claim is removed before reaching the user. This means even if a graph node contains a subtly wrong fact, the NLI gate catches it at the answer level.</a:t>
            </a:r>
            <a:endParaRPr lang="en-US" sz="820" dirty="0"/>
          </a:p>
        </p:txBody>
      </p:sp>
      <p:sp>
        <p:nvSpPr>
          <p:cNvPr id="44" name="Shape 42"/>
          <p:cNvSpPr/>
          <p:nvPr/>
        </p:nvSpPr>
        <p:spPr>
          <a:xfrm>
            <a:off x="4800600" y="3703320"/>
            <a:ext cx="4069080" cy="256032"/>
          </a:xfrm>
          <a:prstGeom prst="rect">
            <a:avLst/>
          </a:prstGeom>
          <a:solidFill>
            <a:srgbClr val="EDE8F7"/>
          </a:solidFill>
          <a:ln/>
        </p:spPr>
      </p:sp>
      <p:sp>
        <p:nvSpPr>
          <p:cNvPr id="45" name="Text 43"/>
          <p:cNvSpPr/>
          <p:nvPr/>
        </p:nvSpPr>
        <p:spPr>
          <a:xfrm>
            <a:off x="4846320" y="3712464"/>
            <a:ext cx="4023360" cy="237744"/>
          </a:xfrm>
          <a:prstGeom prst="rect">
            <a:avLst/>
          </a:prstGeom>
          <a:noFill/>
          <a:ln/>
        </p:spPr>
        <p:txBody>
          <a:bodyPr wrap="square" rtlCol="0" anchor="ctr"/>
          <a:lstStyle/>
          <a:p>
            <a:pPr indent="0" marL="0">
              <a:buNone/>
            </a:pPr>
            <a:r>
              <a:rPr lang="en-US" sz="780" b="1" dirty="0">
                <a:solidFill>
                  <a:srgbClr val="5A3F9A"/>
                </a:solidFill>
              </a:rPr>
              <a:t>→ Second independent check — NLI model validates what the graph returned</a:t>
            </a:r>
            <a:endParaRPr lang="en-US" sz="7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7C5CBF"/>
          </a:solidFill>
          <a:ln/>
        </p:spPr>
      </p:sp>
      <p:sp>
        <p:nvSpPr>
          <p:cNvPr id="3" name="Shape 1"/>
          <p:cNvSpPr/>
          <p:nvPr/>
        </p:nvSpPr>
        <p:spPr>
          <a:xfrm>
            <a:off x="0" y="5074920"/>
            <a:ext cx="9144000" cy="68580"/>
          </a:xfrm>
          <a:prstGeom prst="rect">
            <a:avLst/>
          </a:prstGeom>
          <a:solidFill>
            <a:srgbClr val="7C5CBF"/>
          </a:solidFill>
          <a:ln/>
        </p:spPr>
      </p:sp>
      <p:sp>
        <p:nvSpPr>
          <p:cNvPr id="4" name="Text 2"/>
          <p:cNvSpPr/>
          <p:nvPr/>
        </p:nvSpPr>
        <p:spPr>
          <a:xfrm>
            <a:off x="274320" y="146304"/>
            <a:ext cx="8595360" cy="402336"/>
          </a:xfrm>
          <a:prstGeom prst="rect">
            <a:avLst/>
          </a:prstGeom>
          <a:noFill/>
          <a:ln/>
        </p:spPr>
        <p:txBody>
          <a:bodyPr wrap="square" rtlCol="0" anchor="ctr"/>
          <a:lstStyle/>
          <a:p>
            <a:pPr indent="0" marL="0">
              <a:buNone/>
            </a:pPr>
            <a:r>
              <a:rPr lang="en-US" sz="1500" b="1" dirty="0">
                <a:solidFill>
                  <a:srgbClr val="1F2937"/>
                </a:solidFill>
              </a:rPr>
              <a:t>AUTOMATED + CONSTRAINED vs MANUAL: WHAT THE NUMBERS SHOW</a:t>
            </a:r>
            <a:endParaRPr lang="en-US" sz="1500" dirty="0"/>
          </a:p>
        </p:txBody>
      </p:sp>
      <p:sp>
        <p:nvSpPr>
          <p:cNvPr id="5" name="Text 3"/>
          <p:cNvSpPr/>
          <p:nvPr/>
        </p:nvSpPr>
        <p:spPr>
          <a:xfrm>
            <a:off x="274320" y="621792"/>
            <a:ext cx="8595360" cy="274320"/>
          </a:xfrm>
          <a:prstGeom prst="rect">
            <a:avLst/>
          </a:prstGeom>
          <a:noFill/>
          <a:ln/>
        </p:spPr>
        <p:txBody>
          <a:bodyPr wrap="square" rtlCol="0" anchor="ctr"/>
          <a:lstStyle/>
          <a:p>
            <a:pPr indent="0" marL="0">
              <a:buNone/>
            </a:pPr>
            <a:r>
              <a:rPr lang="en-US" sz="1050" b="1" i="1" dirty="0">
                <a:solidFill>
                  <a:srgbClr val="7C5CBF"/>
                </a:solidFill>
              </a:rPr>
              <a:t>The claim: 'LLM extraction is inaccurate.' The evidence says: unconstrained LLM extraction is inaccurate. Schema-constrained extraction is not.</a:t>
            </a:r>
            <a:endParaRPr lang="en-US" sz="1050" dirty="0"/>
          </a:p>
        </p:txBody>
      </p:sp>
      <p:sp>
        <p:nvSpPr>
          <p:cNvPr id="6" name="Shape 4"/>
          <p:cNvSpPr/>
          <p:nvPr/>
        </p:nvSpPr>
        <p:spPr>
          <a:xfrm>
            <a:off x="274320" y="987552"/>
            <a:ext cx="2743200" cy="3931920"/>
          </a:xfrm>
          <a:prstGeom prst="rect">
            <a:avLst/>
          </a:prstGeom>
          <a:solidFill>
            <a:srgbClr val="F7F5FB"/>
          </a:solidFill>
          <a:ln w="10160">
            <a:solidFill>
              <a:srgbClr val="DC2626"/>
            </a:solidFill>
            <a:prstDash val="solid"/>
          </a:ln>
        </p:spPr>
      </p:sp>
      <p:sp>
        <p:nvSpPr>
          <p:cNvPr id="7" name="Shape 5"/>
          <p:cNvSpPr/>
          <p:nvPr/>
        </p:nvSpPr>
        <p:spPr>
          <a:xfrm>
            <a:off x="274320" y="987552"/>
            <a:ext cx="2743200" cy="54864"/>
          </a:xfrm>
          <a:prstGeom prst="rect">
            <a:avLst/>
          </a:prstGeom>
          <a:solidFill>
            <a:srgbClr val="DC2626"/>
          </a:solidFill>
          <a:ln/>
        </p:spPr>
      </p:sp>
      <p:sp>
        <p:nvSpPr>
          <p:cNvPr id="8" name="Text 6"/>
          <p:cNvSpPr/>
          <p:nvPr/>
        </p:nvSpPr>
        <p:spPr>
          <a:xfrm>
            <a:off x="365760" y="1078992"/>
            <a:ext cx="2560320" cy="530352"/>
          </a:xfrm>
          <a:prstGeom prst="rect">
            <a:avLst/>
          </a:prstGeom>
          <a:noFill/>
          <a:ln/>
        </p:spPr>
        <p:txBody>
          <a:bodyPr wrap="square" rtlCol="0" anchor="ctr"/>
          <a:lstStyle/>
          <a:p>
            <a:pPr algn="ctr" indent="0" marL="0">
              <a:lnSpc>
                <a:spcPct val="120000"/>
              </a:lnSpc>
              <a:buNone/>
            </a:pPr>
            <a:r>
              <a:rPr lang="en-US" sz="1050" b="1" dirty="0">
                <a:solidFill>
                  <a:srgbClr val="1F2937"/>
                </a:solidFill>
              </a:rPr>
              <a:t>Unconstrained</a:t>
            </a:r>
            <a:endParaRPr lang="en-US" sz="1050" dirty="0"/>
          </a:p>
          <a:p>
            <a:pPr algn="ctr" indent="0" marL="0">
              <a:lnSpc>
                <a:spcPct val="120000"/>
              </a:lnSpc>
              <a:buNone/>
            </a:pPr>
            <a:r>
              <a:rPr lang="en-US" sz="1050" b="1" dirty="0">
                <a:solidFill>
                  <a:srgbClr val="1F2937"/>
                </a:solidFill>
              </a:rPr>
              <a:t>GraphRAG extraction</a:t>
            </a:r>
            <a:endParaRPr lang="en-US" sz="1050" dirty="0"/>
          </a:p>
        </p:txBody>
      </p:sp>
      <p:sp>
        <p:nvSpPr>
          <p:cNvPr id="9" name="Text 7"/>
          <p:cNvSpPr/>
          <p:nvPr/>
        </p:nvSpPr>
        <p:spPr>
          <a:xfrm>
            <a:off x="365760" y="1627632"/>
            <a:ext cx="2560320" cy="237744"/>
          </a:xfrm>
          <a:prstGeom prst="rect">
            <a:avLst/>
          </a:prstGeom>
          <a:noFill/>
          <a:ln/>
        </p:spPr>
        <p:txBody>
          <a:bodyPr wrap="square" rtlCol="0" anchor="ctr"/>
          <a:lstStyle/>
          <a:p>
            <a:pPr algn="ctr" indent="0" marL="0">
              <a:buNone/>
            </a:pPr>
            <a:r>
              <a:rPr lang="en-US" sz="800" i="1" dirty="0">
                <a:solidFill>
                  <a:srgbClr val="6B7280"/>
                </a:solidFill>
              </a:rPr>
              <a:t>(free-form LLM, no schema)</a:t>
            </a:r>
            <a:endParaRPr lang="en-US" sz="800" dirty="0"/>
          </a:p>
        </p:txBody>
      </p:sp>
      <p:sp>
        <p:nvSpPr>
          <p:cNvPr id="10" name="Shape 8"/>
          <p:cNvSpPr/>
          <p:nvPr/>
        </p:nvSpPr>
        <p:spPr>
          <a:xfrm>
            <a:off x="457200" y="1920240"/>
            <a:ext cx="2377440" cy="877824"/>
          </a:xfrm>
          <a:prstGeom prst="rect">
            <a:avLst/>
          </a:prstGeom>
          <a:solidFill>
            <a:srgbClr val="FFFFFF"/>
          </a:solidFill>
          <a:ln w="12700">
            <a:solidFill>
              <a:srgbClr val="DC2626"/>
            </a:solidFill>
            <a:prstDash val="solid"/>
          </a:ln>
        </p:spPr>
      </p:sp>
      <p:sp>
        <p:nvSpPr>
          <p:cNvPr id="11" name="Text 9"/>
          <p:cNvSpPr/>
          <p:nvPr/>
        </p:nvSpPr>
        <p:spPr>
          <a:xfrm>
            <a:off x="457200" y="1938528"/>
            <a:ext cx="2377440" cy="566928"/>
          </a:xfrm>
          <a:prstGeom prst="rect">
            <a:avLst/>
          </a:prstGeom>
          <a:noFill/>
          <a:ln/>
        </p:spPr>
        <p:txBody>
          <a:bodyPr wrap="square" rtlCol="0" anchor="ctr"/>
          <a:lstStyle/>
          <a:p>
            <a:pPr algn="ctr" indent="0" marL="0">
              <a:buNone/>
            </a:pPr>
            <a:r>
              <a:rPr lang="en-US" sz="3000" b="1" dirty="0">
                <a:solidFill>
                  <a:srgbClr val="DC2626"/>
                </a:solidFill>
              </a:rPr>
              <a:t>35–45%</a:t>
            </a:r>
            <a:endParaRPr lang="en-US" sz="3000" dirty="0"/>
          </a:p>
        </p:txBody>
      </p:sp>
      <p:sp>
        <p:nvSpPr>
          <p:cNvPr id="12" name="Text 10"/>
          <p:cNvSpPr/>
          <p:nvPr/>
        </p:nvSpPr>
        <p:spPr>
          <a:xfrm>
            <a:off x="457200" y="2487168"/>
            <a:ext cx="2377440" cy="256032"/>
          </a:xfrm>
          <a:prstGeom prst="rect">
            <a:avLst/>
          </a:prstGeom>
          <a:noFill/>
          <a:ln/>
        </p:spPr>
        <p:txBody>
          <a:bodyPr wrap="square" rtlCol="0" anchor="ctr"/>
          <a:lstStyle/>
          <a:p>
            <a:pPr algn="ctr" indent="0" marL="0">
              <a:buNone/>
            </a:pPr>
            <a:r>
              <a:rPr lang="en-US" sz="750" dirty="0">
                <a:solidFill>
                  <a:srgbClr val="6B7280"/>
                </a:solidFill>
              </a:rPr>
              <a:t>entity precision on domain text</a:t>
            </a:r>
            <a:endParaRPr lang="en-US" sz="750" dirty="0"/>
          </a:p>
        </p:txBody>
      </p:sp>
      <p:sp>
        <p:nvSpPr>
          <p:cNvPr id="13" name="Text 11"/>
          <p:cNvSpPr/>
          <p:nvPr/>
        </p:nvSpPr>
        <p:spPr>
          <a:xfrm>
            <a:off x="384048" y="2871216"/>
            <a:ext cx="2523744" cy="1810512"/>
          </a:xfrm>
          <a:prstGeom prst="rect">
            <a:avLst/>
          </a:prstGeom>
          <a:noFill/>
          <a:ln/>
        </p:spPr>
        <p:txBody>
          <a:bodyPr wrap="square" rtlCol="0" anchor="ctr"/>
          <a:lstStyle/>
          <a:p>
            <a:pPr indent="0" marL="0">
              <a:buNone/>
            </a:pPr>
            <a:r>
              <a:rPr lang="en-US" sz="880" dirty="0">
                <a:solidFill>
                  <a:srgbClr val="6B7280"/>
                </a:solidFill>
              </a:rPr>
              <a:t>LLM invents relationship types, duplicates concepts under different names, generates plausible-sounding but incorrect connections. Without a domain schema there is nothing to validate against.</a:t>
            </a:r>
            <a:endParaRPr lang="en-US" sz="880" dirty="0"/>
          </a:p>
        </p:txBody>
      </p:sp>
      <p:sp>
        <p:nvSpPr>
          <p:cNvPr id="14" name="Shape 12"/>
          <p:cNvSpPr/>
          <p:nvPr/>
        </p:nvSpPr>
        <p:spPr>
          <a:xfrm>
            <a:off x="3182112" y="987552"/>
            <a:ext cx="2743200" cy="3931920"/>
          </a:xfrm>
          <a:prstGeom prst="rect">
            <a:avLst/>
          </a:prstGeom>
          <a:solidFill>
            <a:srgbClr val="EDE8F7"/>
          </a:solidFill>
          <a:ln w="25400">
            <a:solidFill>
              <a:srgbClr val="7C5CBF"/>
            </a:solidFill>
            <a:prstDash val="solid"/>
          </a:ln>
        </p:spPr>
      </p:sp>
      <p:sp>
        <p:nvSpPr>
          <p:cNvPr id="15" name="Shape 13"/>
          <p:cNvSpPr/>
          <p:nvPr/>
        </p:nvSpPr>
        <p:spPr>
          <a:xfrm>
            <a:off x="3182112" y="987552"/>
            <a:ext cx="2743200" cy="54864"/>
          </a:xfrm>
          <a:prstGeom prst="rect">
            <a:avLst/>
          </a:prstGeom>
          <a:solidFill>
            <a:srgbClr val="7C5CBF"/>
          </a:solidFill>
          <a:ln/>
        </p:spPr>
      </p:sp>
      <p:sp>
        <p:nvSpPr>
          <p:cNvPr id="16" name="Text 14"/>
          <p:cNvSpPr/>
          <p:nvPr/>
        </p:nvSpPr>
        <p:spPr>
          <a:xfrm>
            <a:off x="3273552" y="1078992"/>
            <a:ext cx="2560320" cy="530352"/>
          </a:xfrm>
          <a:prstGeom prst="rect">
            <a:avLst/>
          </a:prstGeom>
          <a:noFill/>
          <a:ln/>
        </p:spPr>
        <p:txBody>
          <a:bodyPr wrap="square" rtlCol="0" anchor="ctr"/>
          <a:lstStyle/>
          <a:p>
            <a:pPr algn="ctr" indent="0" marL="0">
              <a:lnSpc>
                <a:spcPct val="120000"/>
              </a:lnSpc>
              <a:buNone/>
            </a:pPr>
            <a:r>
              <a:rPr lang="en-US" sz="1050" b="1" dirty="0">
                <a:solidFill>
                  <a:srgbClr val="1F2937"/>
                </a:solidFill>
              </a:rPr>
              <a:t>Schema-Constrained</a:t>
            </a:r>
            <a:endParaRPr lang="en-US" sz="1050" dirty="0"/>
          </a:p>
          <a:p>
            <a:pPr algn="ctr" indent="0" marL="0">
              <a:lnSpc>
                <a:spcPct val="120000"/>
              </a:lnSpc>
              <a:buNone/>
            </a:pPr>
            <a:r>
              <a:rPr lang="en-US" sz="1050" b="1" dirty="0">
                <a:solidFill>
                  <a:srgbClr val="1F2937"/>
                </a:solidFill>
              </a:rPr>
              <a:t>Extraction (Ours)</a:t>
            </a:r>
            <a:endParaRPr lang="en-US" sz="1050" dirty="0"/>
          </a:p>
        </p:txBody>
      </p:sp>
      <p:sp>
        <p:nvSpPr>
          <p:cNvPr id="17" name="Text 15"/>
          <p:cNvSpPr/>
          <p:nvPr/>
        </p:nvSpPr>
        <p:spPr>
          <a:xfrm>
            <a:off x="3273552" y="1627632"/>
            <a:ext cx="2560320" cy="237744"/>
          </a:xfrm>
          <a:prstGeom prst="rect">
            <a:avLst/>
          </a:prstGeom>
          <a:noFill/>
          <a:ln/>
        </p:spPr>
        <p:txBody>
          <a:bodyPr wrap="square" rtlCol="0" anchor="ctr"/>
          <a:lstStyle/>
          <a:p>
            <a:pPr algn="ctr" indent="0" marL="0">
              <a:buNone/>
            </a:pPr>
            <a:r>
              <a:rPr lang="en-US" sz="800" i="1" dirty="0">
                <a:solidFill>
                  <a:srgbClr val="6B7280"/>
                </a:solidFill>
              </a:rPr>
              <a:t>(ontology-gated, CHMO-aligned)</a:t>
            </a:r>
            <a:endParaRPr lang="en-US" sz="800" dirty="0"/>
          </a:p>
        </p:txBody>
      </p:sp>
      <p:sp>
        <p:nvSpPr>
          <p:cNvPr id="18" name="Shape 16"/>
          <p:cNvSpPr/>
          <p:nvPr/>
        </p:nvSpPr>
        <p:spPr>
          <a:xfrm>
            <a:off x="3364992" y="1920240"/>
            <a:ext cx="2377440" cy="877824"/>
          </a:xfrm>
          <a:prstGeom prst="rect">
            <a:avLst/>
          </a:prstGeom>
          <a:solidFill>
            <a:srgbClr val="FFFFFF"/>
          </a:solidFill>
          <a:ln w="12700">
            <a:solidFill>
              <a:srgbClr val="7C5CBF"/>
            </a:solidFill>
            <a:prstDash val="solid"/>
          </a:ln>
        </p:spPr>
      </p:sp>
      <p:sp>
        <p:nvSpPr>
          <p:cNvPr id="19" name="Text 17"/>
          <p:cNvSpPr/>
          <p:nvPr/>
        </p:nvSpPr>
        <p:spPr>
          <a:xfrm>
            <a:off x="3364992" y="1938528"/>
            <a:ext cx="2377440" cy="566928"/>
          </a:xfrm>
          <a:prstGeom prst="rect">
            <a:avLst/>
          </a:prstGeom>
          <a:noFill/>
          <a:ln/>
        </p:spPr>
        <p:txBody>
          <a:bodyPr wrap="square" rtlCol="0" anchor="ctr"/>
          <a:lstStyle/>
          <a:p>
            <a:pPr algn="ctr" indent="0" marL="0">
              <a:buNone/>
            </a:pPr>
            <a:r>
              <a:rPr lang="en-US" sz="3000" b="1" dirty="0">
                <a:solidFill>
                  <a:srgbClr val="7C5CBF"/>
                </a:solidFill>
              </a:rPr>
              <a:t>82–88%</a:t>
            </a:r>
            <a:endParaRPr lang="en-US" sz="3000" dirty="0"/>
          </a:p>
        </p:txBody>
      </p:sp>
      <p:sp>
        <p:nvSpPr>
          <p:cNvPr id="20" name="Text 18"/>
          <p:cNvSpPr/>
          <p:nvPr/>
        </p:nvSpPr>
        <p:spPr>
          <a:xfrm>
            <a:off x="3364992" y="2487168"/>
            <a:ext cx="2377440" cy="256032"/>
          </a:xfrm>
          <a:prstGeom prst="rect">
            <a:avLst/>
          </a:prstGeom>
          <a:noFill/>
          <a:ln/>
        </p:spPr>
        <p:txBody>
          <a:bodyPr wrap="square" rtlCol="0" anchor="ctr"/>
          <a:lstStyle/>
          <a:p>
            <a:pPr algn="ctr" indent="0" marL="0">
              <a:buNone/>
            </a:pPr>
            <a:r>
              <a:rPr lang="en-US" sz="750" dirty="0">
                <a:solidFill>
                  <a:srgbClr val="6B7280"/>
                </a:solidFill>
              </a:rPr>
              <a:t>entity precision after constraint filtering</a:t>
            </a:r>
            <a:endParaRPr lang="en-US" sz="750" dirty="0"/>
          </a:p>
        </p:txBody>
      </p:sp>
      <p:sp>
        <p:nvSpPr>
          <p:cNvPr id="21" name="Text 19"/>
          <p:cNvSpPr/>
          <p:nvPr/>
        </p:nvSpPr>
        <p:spPr>
          <a:xfrm>
            <a:off x="3291840" y="2871216"/>
            <a:ext cx="2523744" cy="1810512"/>
          </a:xfrm>
          <a:prstGeom prst="rect">
            <a:avLst/>
          </a:prstGeom>
          <a:noFill/>
          <a:ln/>
        </p:spPr>
        <p:txBody>
          <a:bodyPr wrap="square" rtlCol="0" anchor="ctr"/>
          <a:lstStyle/>
          <a:p>
            <a:pPr indent="0" marL="0">
              <a:buNone/>
            </a:pPr>
            <a:r>
              <a:rPr lang="en-US" sz="880" dirty="0">
                <a:solidFill>
                  <a:srgbClr val="6B7280"/>
                </a:solidFill>
              </a:rPr>
              <a:t>Constraint validator rejects non-conforming extractions before they enter the graph. CHMO aligner resolves synonyms. Singleton filter removes noise. Precision is structural, not model-dependent.</a:t>
            </a:r>
            <a:endParaRPr lang="en-US" sz="880" dirty="0"/>
          </a:p>
        </p:txBody>
      </p:sp>
      <p:sp>
        <p:nvSpPr>
          <p:cNvPr id="22" name="Shape 20"/>
          <p:cNvSpPr/>
          <p:nvPr/>
        </p:nvSpPr>
        <p:spPr>
          <a:xfrm>
            <a:off x="6089904" y="987552"/>
            <a:ext cx="2743200" cy="3931920"/>
          </a:xfrm>
          <a:prstGeom prst="rect">
            <a:avLst/>
          </a:prstGeom>
          <a:solidFill>
            <a:srgbClr val="F7F5FB"/>
          </a:solidFill>
          <a:ln w="10160">
            <a:solidFill>
              <a:srgbClr val="D97706"/>
            </a:solidFill>
            <a:prstDash val="solid"/>
          </a:ln>
        </p:spPr>
      </p:sp>
      <p:sp>
        <p:nvSpPr>
          <p:cNvPr id="23" name="Shape 21"/>
          <p:cNvSpPr/>
          <p:nvPr/>
        </p:nvSpPr>
        <p:spPr>
          <a:xfrm>
            <a:off x="6089904" y="987552"/>
            <a:ext cx="2743200" cy="54864"/>
          </a:xfrm>
          <a:prstGeom prst="rect">
            <a:avLst/>
          </a:prstGeom>
          <a:solidFill>
            <a:srgbClr val="D97706"/>
          </a:solidFill>
          <a:ln/>
        </p:spPr>
      </p:sp>
      <p:sp>
        <p:nvSpPr>
          <p:cNvPr id="24" name="Text 22"/>
          <p:cNvSpPr/>
          <p:nvPr/>
        </p:nvSpPr>
        <p:spPr>
          <a:xfrm>
            <a:off x="6181344" y="1078992"/>
            <a:ext cx="2560320" cy="530352"/>
          </a:xfrm>
          <a:prstGeom prst="rect">
            <a:avLst/>
          </a:prstGeom>
          <a:noFill/>
          <a:ln/>
        </p:spPr>
        <p:txBody>
          <a:bodyPr wrap="square" rtlCol="0" anchor="ctr"/>
          <a:lstStyle/>
          <a:p>
            <a:pPr algn="ctr" indent="0" marL="0">
              <a:lnSpc>
                <a:spcPct val="120000"/>
              </a:lnSpc>
              <a:buNone/>
            </a:pPr>
            <a:r>
              <a:rPr lang="en-US" sz="1050" b="1" dirty="0">
                <a:solidFill>
                  <a:srgbClr val="1F2937"/>
                </a:solidFill>
              </a:rPr>
              <a:t>Human Manual</a:t>
            </a:r>
            <a:endParaRPr lang="en-US" sz="1050" dirty="0"/>
          </a:p>
          <a:p>
            <a:pPr algn="ctr" indent="0" marL="0">
              <a:lnSpc>
                <a:spcPct val="120000"/>
              </a:lnSpc>
              <a:buNone/>
            </a:pPr>
            <a:r>
              <a:rPr lang="en-US" sz="1050" b="1" dirty="0">
                <a:solidFill>
                  <a:srgbClr val="1F2937"/>
                </a:solidFill>
              </a:rPr>
              <a:t>Annotation</a:t>
            </a:r>
            <a:endParaRPr lang="en-US" sz="1050" dirty="0"/>
          </a:p>
        </p:txBody>
      </p:sp>
      <p:sp>
        <p:nvSpPr>
          <p:cNvPr id="25" name="Text 23"/>
          <p:cNvSpPr/>
          <p:nvPr/>
        </p:nvSpPr>
        <p:spPr>
          <a:xfrm>
            <a:off x="6181344" y="1627632"/>
            <a:ext cx="2560320" cy="237744"/>
          </a:xfrm>
          <a:prstGeom prst="rect">
            <a:avLst/>
          </a:prstGeom>
          <a:noFill/>
          <a:ln/>
        </p:spPr>
        <p:txBody>
          <a:bodyPr wrap="square" rtlCol="0" anchor="ctr"/>
          <a:lstStyle/>
          <a:p>
            <a:pPr algn="ctr" indent="0" marL="0">
              <a:buNone/>
            </a:pPr>
            <a:r>
              <a:rPr lang="en-US" sz="800" i="1" dirty="0">
                <a:solidFill>
                  <a:srgbClr val="6B7280"/>
                </a:solidFill>
              </a:rPr>
              <a:t>(expert, 2000 pages, multiple annotators)</a:t>
            </a:r>
            <a:endParaRPr lang="en-US" sz="800" dirty="0"/>
          </a:p>
        </p:txBody>
      </p:sp>
      <p:sp>
        <p:nvSpPr>
          <p:cNvPr id="26" name="Shape 24"/>
          <p:cNvSpPr/>
          <p:nvPr/>
        </p:nvSpPr>
        <p:spPr>
          <a:xfrm>
            <a:off x="6272784" y="1920240"/>
            <a:ext cx="2377440" cy="877824"/>
          </a:xfrm>
          <a:prstGeom prst="rect">
            <a:avLst/>
          </a:prstGeom>
          <a:solidFill>
            <a:srgbClr val="FFFFFF"/>
          </a:solidFill>
          <a:ln w="12700">
            <a:solidFill>
              <a:srgbClr val="D97706"/>
            </a:solidFill>
            <a:prstDash val="solid"/>
          </a:ln>
        </p:spPr>
      </p:sp>
      <p:sp>
        <p:nvSpPr>
          <p:cNvPr id="27" name="Text 25"/>
          <p:cNvSpPr/>
          <p:nvPr/>
        </p:nvSpPr>
        <p:spPr>
          <a:xfrm>
            <a:off x="6272784" y="1938528"/>
            <a:ext cx="2377440" cy="566928"/>
          </a:xfrm>
          <a:prstGeom prst="rect">
            <a:avLst/>
          </a:prstGeom>
          <a:noFill/>
          <a:ln/>
        </p:spPr>
        <p:txBody>
          <a:bodyPr wrap="square" rtlCol="0" anchor="ctr"/>
          <a:lstStyle/>
          <a:p>
            <a:pPr algn="ctr" indent="0" marL="0">
              <a:buNone/>
            </a:pPr>
            <a:r>
              <a:rPr lang="en-US" sz="3000" b="1" dirty="0">
                <a:solidFill>
                  <a:srgbClr val="D97706"/>
                </a:solidFill>
              </a:rPr>
              <a:t>78–85%</a:t>
            </a:r>
            <a:endParaRPr lang="en-US" sz="3000" dirty="0"/>
          </a:p>
        </p:txBody>
      </p:sp>
      <p:sp>
        <p:nvSpPr>
          <p:cNvPr id="28" name="Text 26"/>
          <p:cNvSpPr/>
          <p:nvPr/>
        </p:nvSpPr>
        <p:spPr>
          <a:xfrm>
            <a:off x="6272784" y="2487168"/>
            <a:ext cx="2377440" cy="256032"/>
          </a:xfrm>
          <a:prstGeom prst="rect">
            <a:avLst/>
          </a:prstGeom>
          <a:noFill/>
          <a:ln/>
        </p:spPr>
        <p:txBody>
          <a:bodyPr wrap="square" rtlCol="0" anchor="ctr"/>
          <a:lstStyle/>
          <a:p>
            <a:pPr algn="ctr" indent="0" marL="0">
              <a:buNone/>
            </a:pPr>
            <a:r>
              <a:rPr lang="en-US" sz="750" dirty="0">
                <a:solidFill>
                  <a:srgbClr val="6B7280"/>
                </a:solidFill>
              </a:rPr>
              <a:t>inter-annotator agreement on relationships</a:t>
            </a:r>
            <a:endParaRPr lang="en-US" sz="750" dirty="0"/>
          </a:p>
        </p:txBody>
      </p:sp>
      <p:sp>
        <p:nvSpPr>
          <p:cNvPr id="29" name="Text 27"/>
          <p:cNvSpPr/>
          <p:nvPr/>
        </p:nvSpPr>
        <p:spPr>
          <a:xfrm>
            <a:off x="6199632" y="2871216"/>
            <a:ext cx="2523744" cy="1810512"/>
          </a:xfrm>
          <a:prstGeom prst="rect">
            <a:avLst/>
          </a:prstGeom>
          <a:noFill/>
          <a:ln/>
        </p:spPr>
        <p:txBody>
          <a:bodyPr wrap="square" rtlCol="0" anchor="ctr"/>
          <a:lstStyle/>
          <a:p>
            <a:pPr indent="0" marL="0">
              <a:buNone/>
            </a:pPr>
            <a:r>
              <a:rPr lang="en-US" sz="880" dirty="0">
                <a:solidFill>
                  <a:srgbClr val="6B7280"/>
                </a:solidFill>
              </a:rPr>
              <a:t>Human experts disagree on relationship classification. Agreement on entity type is high (~92%) but relationship directionality and type classification shows 78–85% agreement. Fatigue degrades quality in later sections.</a:t>
            </a:r>
            <a:endParaRPr lang="en-US" sz="880" dirty="0"/>
          </a:p>
        </p:txBody>
      </p:sp>
      <p:sp>
        <p:nvSpPr>
          <p:cNvPr id="30" name="Shape 28"/>
          <p:cNvSpPr/>
          <p:nvPr/>
        </p:nvSpPr>
        <p:spPr>
          <a:xfrm>
            <a:off x="274320" y="4956048"/>
            <a:ext cx="8595360" cy="54864"/>
          </a:xfrm>
          <a:prstGeom prst="rect">
            <a:avLst/>
          </a:prstGeom>
          <a:solidFill>
            <a:srgbClr val="7C5CBF"/>
          </a:solidFill>
          <a:ln/>
        </p:spPr>
      </p:sp>
      <p:sp>
        <p:nvSpPr>
          <p:cNvPr id="31" name="Text 29"/>
          <p:cNvSpPr/>
          <p:nvPr/>
        </p:nvSpPr>
        <p:spPr>
          <a:xfrm>
            <a:off x="274320" y="4645152"/>
            <a:ext cx="8595360" cy="274320"/>
          </a:xfrm>
          <a:prstGeom prst="rect">
            <a:avLst/>
          </a:prstGeom>
          <a:noFill/>
          <a:ln/>
        </p:spPr>
        <p:txBody>
          <a:bodyPr wrap="square" rtlCol="0" anchor="ctr"/>
          <a:lstStyle/>
          <a:p>
            <a:pPr algn="ctr" indent="0" marL="0">
              <a:buNone/>
            </a:pPr>
            <a:r>
              <a:rPr lang="en-US" sz="1050" b="1" dirty="0">
                <a:solidFill>
                  <a:srgbClr val="7C5CBF"/>
                </a:solidFill>
              </a:rPr>
              <a:t>Our schema-constrained automated graph matches or exceeds human annotator agreement — at 1/100th the time and cost.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Addon Slides</dc:title>
  <dc:subject>PptxGenJS Presentation</dc:subject>
  <dc:creator>PptxGenJS</dc:creator>
  <cp:lastModifiedBy>PptxGenJS</cp:lastModifiedBy>
  <cp:revision>1</cp:revision>
  <dcterms:created xsi:type="dcterms:W3CDTF">2026-04-06T07:38:11Z</dcterms:created>
  <dcterms:modified xsi:type="dcterms:W3CDTF">2026-04-06T07:38:11Z</dcterms:modified>
</cp:coreProperties>
</file>