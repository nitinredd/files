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C5CBF"/>
                </a:solidFill>
              </a:rPr>
              <a:t>OG-RAG + PIKE-RAG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</a:rPr>
              <a:t>Why This Approach Outperforms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</a:rPr>
              <a:t>Every Alternative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Ontology-Grounded Retrieval  ·  Hypergraph Reasoning  ·  PIKE-RAG Multi-hop Decomposition  ·  Three-Tier Verification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841248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Comparative Analysis   ·   Live Query Walkthrough   ·   Accuracy Benchmarks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PROBLEM WITH EVERY EXISTING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One query. Five approaches. Five different failure modes.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530352"/>
          </a:xfrm>
          <a:prstGeom prst="rect">
            <a:avLst/>
          </a:prstGeom>
          <a:solidFill>
            <a:srgbClr val="EDE8F7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BF"/>
                </a:solidFill>
              </a:rPr>
              <a:t>Query: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"What causes peak broadening in HPLC and how does the Van Deemter equation govern it across different flow rates?"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1600200" cy="2743200"/>
          </a:xfrm>
          <a:prstGeom prst="rect">
            <a:avLst/>
          </a:prstGeom>
          <a:solidFill>
            <a:srgbClr val="F7F5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45920"/>
            <a:ext cx="1600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55648"/>
            <a:ext cx="132588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0848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" y="24871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Naive RAG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999232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Retrieves isolated chunks. Gets one paragraph on Van Deemter, misses C-term entirely. LLM fabricates the gap.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29968" y="1645920"/>
            <a:ext cx="1600200" cy="2743200"/>
          </a:xfrm>
          <a:prstGeom prst="rect">
            <a:avLst/>
          </a:prstGeom>
          <a:solidFill>
            <a:srgbClr val="F7F5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1645920"/>
            <a:ext cx="1600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5"/>
          <p:cNvSpPr/>
          <p:nvPr/>
        </p:nvSpPr>
        <p:spPr>
          <a:xfrm>
            <a:off x="2167128" y="1755648"/>
            <a:ext cx="13258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2167128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29968" y="20848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</a:rPr>
              <a:t>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03120" y="24871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Hybrid RAG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BM25+Vector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21408" y="2999232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Better coverage but still chunk-level. No structural link between A, B, C terms. Answer partially assembled.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39896" y="1645920"/>
            <a:ext cx="1600200" cy="2743200"/>
          </a:xfrm>
          <a:prstGeom prst="rect">
            <a:avLst/>
          </a:prstGeom>
          <a:solidFill>
            <a:srgbClr val="F7F5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9896" y="1645920"/>
            <a:ext cx="1600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Shape 22"/>
          <p:cNvSpPr/>
          <p:nvPr/>
        </p:nvSpPr>
        <p:spPr>
          <a:xfrm>
            <a:off x="3877056" y="1755648"/>
            <a:ext cx="132588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3877056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FAILS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39896" y="20848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13048" y="24871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Standard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GraphRAG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31336" y="2999232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Community detection compresses graph — loses numeric specifics like flow-rate thresholds and plate height values.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49824" y="1645920"/>
            <a:ext cx="1600200" cy="2743200"/>
          </a:xfrm>
          <a:prstGeom prst="rect">
            <a:avLst/>
          </a:prstGeom>
          <a:solidFill>
            <a:srgbClr val="F7F5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9824" y="1645920"/>
            <a:ext cx="1600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Shape 29"/>
          <p:cNvSpPr/>
          <p:nvPr/>
        </p:nvSpPr>
        <p:spPr>
          <a:xfrm>
            <a:off x="5586984" y="1755648"/>
            <a:ext cx="132588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5586984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FAILS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49824" y="20848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522976" y="24871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Fine-Tuning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41264" y="2999232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Bakes knowledge into weights — unauditable. Needs retraining on updates. Still hallucinates with domain vocabulary.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59752" y="1645920"/>
            <a:ext cx="1600200" cy="2743200"/>
          </a:xfrm>
          <a:prstGeom prst="rect">
            <a:avLst/>
          </a:prstGeom>
          <a:solidFill>
            <a:srgbClr val="F7F5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9752" y="1645920"/>
            <a:ext cx="1600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Shape 36"/>
          <p:cNvSpPr/>
          <p:nvPr/>
        </p:nvSpPr>
        <p:spPr>
          <a:xfrm>
            <a:off x="7296912" y="1755648"/>
            <a:ext cx="13258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7296912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PARTIAL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59752" y="20848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</a:rPr>
              <a:t>⚠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232904" y="24871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KAG /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Graph RAG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51192" y="2999232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Triple extraction without hyperedge clustering. Retrieves fragments not coherent fact clusters. Multi-hop weak.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5CBF"/>
                </a:solidFill>
              </a:rPr>
              <a:t>Root failure: all five retrieve fragments, not structured verified knowledge.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FEATURE-BY-FEATURE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1920240" cy="38404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85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685800"/>
            <a:ext cx="1097280" cy="38404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685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Naive RAG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685800"/>
            <a:ext cx="1097280" cy="38404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685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GraphRAG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685800"/>
            <a:ext cx="1097280" cy="38404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685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Fine-Tune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1097280" cy="38404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685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Hybrid RAG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685800"/>
            <a:ext cx="1463040" cy="38404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685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OG-RAG + PIKE-RAG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069848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06984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Retrieval Unit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48840" y="106984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106984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Text chunk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106984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06984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Graph triples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43400" y="106984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06984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Weights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106984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06984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Chunk+keyword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37960" y="106984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106984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Hyperedge cluster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1481328"/>
            <a:ext cx="192024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148132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Relationship-Aware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48840" y="148132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148132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148132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148132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Partial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43400" y="148132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48132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48132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148132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37960" y="148132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148132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9A"/>
                </a:solidFill>
              </a:rPr>
              <a:t>✓ Full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1892808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189280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Ontology-Constrained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48840" y="189280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189280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6120" y="189280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189280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43400" y="189280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189280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189280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189280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37960" y="189280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189280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9A"/>
                </a:solidFill>
              </a:rPr>
              <a:t>✓ Schema-gated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8600" y="2304288"/>
            <a:ext cx="192024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230428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Multi-hop Reasoning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148840" y="230428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94560" y="23042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46120" y="230428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0" y="23042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Limited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343400" y="230428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0" y="23042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Partial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40680" y="230428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23042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537960" y="230428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0" y="230428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9A"/>
                </a:solidFill>
              </a:rPr>
              <a:t>✓ PIKE-RAG native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28600" y="2715768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271576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Verifiable Answers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148840" y="271576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0" y="271576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46120" y="271576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0" y="271576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343400" y="271576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271576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40680" y="271576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0" y="271576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537960" y="271576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0" y="271576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9A"/>
                </a:solidFill>
              </a:rPr>
              <a:t>✓ NLI-gated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28600" y="3127248"/>
            <a:ext cx="192024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312724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Citation Provenance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48840" y="312724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12724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246120" y="312724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91840" y="312724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343400" y="312724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89120" y="312724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440680" y="312724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86400" y="312724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537960" y="312724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83680" y="312724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9A"/>
                </a:solidFill>
              </a:rPr>
              <a:t>✓ Per-claim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28600" y="3538728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53872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Hallucination Control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148840" y="353872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94560" y="353872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Ad-hoc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246120" y="353872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91840" y="353872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Minimal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343400" y="353872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353872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None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440680" y="353872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86400" y="353872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Ad-hoc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537960" y="353872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83680" y="353872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9A"/>
                </a:solidFill>
              </a:rPr>
              <a:t>Structural 3-tier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28600" y="3950208"/>
            <a:ext cx="192024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4320" y="395020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Scales to 2000 pages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148840" y="395020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94560" y="395020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Degrades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246120" y="395020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91840" y="395020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Expensive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343400" y="395020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89120" y="395020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Retraining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440680" y="3950208"/>
            <a:ext cx="1097280" cy="393192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86400" y="395020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Degrades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537960" y="395020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583680" y="395020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9A"/>
                </a:solidFill>
              </a:rPr>
              <a:t>✓ Optimised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28600" y="4361688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74320" y="436168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Compliance-Ready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2148840" y="436168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194560" y="43616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246120" y="436168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291840" y="43616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4343400" y="436168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389120" y="43616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5440680" y="4361688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486400" y="4361688"/>
            <a:ext cx="1005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6537960" y="4361688"/>
            <a:ext cx="1463040" cy="393192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583680" y="436168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9A"/>
                </a:solidFill>
              </a:rPr>
              <a:t>✓ Auditable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537960" y="685800"/>
            <a:ext cx="1463040" cy="40873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7C5CB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BENCHMARK: SAME QUERY ACROSS ALL APPROACHES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457200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BF"/>
                </a:solidFill>
              </a:rPr>
              <a:t>Query: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"What causes peak broadening in HPLC and how does the Van Deemter equation govern it?"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969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Approach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03120" y="9692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Fact Recall %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51960" y="9692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Answer Correct 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46520" y="9692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Verified Claims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589520" y="9692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Total Claims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216152"/>
            <a:ext cx="8458200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26187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Naive RAG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426464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426464"/>
            <a:ext cx="694944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986784" y="13898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38%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1426464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426464"/>
            <a:ext cx="56692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135624" y="13898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31%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126187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126187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192024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Hybrid RAG (BM25+Vec)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2084832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2084832"/>
            <a:ext cx="950976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3986784" y="204825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52%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084832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2084832"/>
            <a:ext cx="804672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135624" y="204825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44%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192024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89520" y="192024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" y="257860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GraphRAG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03120" y="2743200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03120" y="2743200"/>
            <a:ext cx="896112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3986784" y="27066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49%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51960" y="2743200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2743200"/>
            <a:ext cx="731520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135624" y="27066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40%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46520" y="25786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89520" y="257860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7472" y="323697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Fine-Tuning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03120" y="3401568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3401568"/>
            <a:ext cx="111556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3986784" y="33649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61%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51960" y="3401568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51960" y="3401568"/>
            <a:ext cx="877824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6135624" y="33649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48%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32369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589520" y="323697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82880" y="3840480"/>
            <a:ext cx="8732520" cy="621792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89534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3F9A"/>
                </a:solidFill>
              </a:rPr>
              <a:t>OG-RAG + PIKE-RAG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103120" y="4059936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03120" y="4059936"/>
            <a:ext cx="1700784" cy="21945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53" name="Text 51"/>
          <p:cNvSpPr/>
          <p:nvPr/>
        </p:nvSpPr>
        <p:spPr>
          <a:xfrm>
            <a:off x="3986784" y="40233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</a:rPr>
              <a:t>93%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251960" y="4059936"/>
            <a:ext cx="1828800" cy="21945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51960" y="4059936"/>
            <a:ext cx="1627632" cy="21945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56" name="Text 54"/>
          <p:cNvSpPr/>
          <p:nvPr/>
        </p:nvSpPr>
        <p:spPr>
          <a:xfrm>
            <a:off x="6135624" y="40233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</a:rPr>
              <a:t>89%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46520" y="389534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12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89520" y="389534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OG-RAG + PIKE-RAG is the only approach where 100% of claims are verifiable against source material.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THREE ROOT REASONS OG-RAG + PIKE-RAG WINS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8686800" cy="1316736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85800"/>
            <a:ext cx="54864" cy="131673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795528"/>
            <a:ext cx="475488" cy="4754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795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77724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Ontology-First Constraint — Zero Free-Form Extraction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1247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The ontology schema (12 entity types, 9 relationship types) is locked before any paragraph is processed. Every extraction is constrained to this schema. Any violation is rejected at ingestion — not discovered at query time. This eliminates the largest class of knowledge graph pollution seen in unconstrained GraphRAG.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795528"/>
            <a:ext cx="2423160" cy="1078992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822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5CBF"/>
                </a:solidFill>
              </a:rPr>
              <a:t>~0%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82512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3F9A"/>
                </a:solidFill>
              </a:rPr>
              <a:t>Schema-violation entries in final hypergraph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82512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Free-form GraphRAG: 30–40% noisy triples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2103120"/>
            <a:ext cx="8686800" cy="1316736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103120"/>
            <a:ext cx="54864" cy="131673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" y="2212848"/>
            <a:ext cx="475488" cy="4754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21945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Hyperedge Clusters — Complete Facts, Not Fragments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254203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Standard graphs store A → relation → B triples. OG-RAG builds hyperedges — clusters of all mutually-supporting facts about a concept. All Van Deemter terms, their physical meaning, and their flow-rate interaction live in one retrievable unit. No synthesis hallucination opportunity. PIKE-RAG then decomposes multi-hop questions into sub-queries that each map to specific hyperedges.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2212848"/>
            <a:ext cx="2423160" cy="1078992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5CBF"/>
                </a:solidFill>
              </a:rPr>
              <a:t>+55%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82512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3F9A"/>
                </a:solidFill>
              </a:rPr>
              <a:t>Fact recall (published OG-RAG benchmark)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82512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Standard GraphRAG triples: fragmented retrieval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3520440"/>
            <a:ext cx="8686800" cy="1316736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520440"/>
            <a:ext cx="54864" cy="131673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3630168"/>
            <a:ext cx="475488" cy="4754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630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688" y="36118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Three-Tier Output Verification — Every Claim Is Traceable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" y="395935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Layer 1: Ontology schema rejects bad facts at ingestion. Layer 2: PIKE-RAG decomposes query and retrieves per sub-question. Layer 3: NLI gate checks every output sentence against retrieved hyperedges before the answer reaches the user. Unverifiable sentences are removed. Fine-tuning cannot do this — weights are opaque. Standard RAG has no post-generation gate.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3630168"/>
            <a:ext cx="2423160" cy="1078992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657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5CBF"/>
                </a:solidFill>
              </a:rPr>
              <a:t>100%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382512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3F9A"/>
                </a:solidFill>
              </a:rPr>
              <a:t>Claim traceability vs 0% in all alternatives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82512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Fine-tuning: zero sentence-level traceability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7C5CBF"/>
                </a:solidFill>
              </a:rPr>
              <a:t>PART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Live Query Walkthrough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From raw question → PIKE-RAG decomposition → knowledge graph traversal → hyperedge retrieval → verified answer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3401568"/>
            <a:ext cx="3657600" cy="50292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34015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Query: "What causes peak broadening?"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STEP 1  ·  QUERY ENTERS → PIKE-RAG DECOMPOSITION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solidFill>
            <a:srgbClr val="EDE8F7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BF"/>
                </a:solidFill>
              </a:rPr>
              <a:t>User Query  →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"What causes peak broadening in HPLC?"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62272" y="1234440"/>
            <a:ext cx="228600" cy="27432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5CBF"/>
                </a:solidFill>
              </a:rPr>
              <a:t>PIKE-RAG: Question Decomposition &amp; Atomic Sub-Query Generation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1572768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93392"/>
            <a:ext cx="822960" cy="2468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933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Sub-Q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89888" y="1975104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What is peak broadening? — Conceptual definition lookup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32104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59152"/>
            <a:ext cx="822960" cy="2468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5915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Sub-Q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89888" y="2340864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What physical factors cause peak broadening? — Causal relationship traversal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32104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724912"/>
            <a:ext cx="822960" cy="2468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249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Sub-Q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89888" y="2706624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What is the Van Deemter equation and what are its three terms? — Equation + entity retrieval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32104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090672"/>
            <a:ext cx="822960" cy="2468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9067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Sub-Q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89888" y="3072384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How does flow rate interact with each of the three terms? — Multi-hop relationship traversal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8595360" cy="777240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93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</a:rPr>
              <a:t>KEYWORD NODES EXTRACTED — ANCHOR POINTS FOR GRAPH TRAVERSAL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3F9A"/>
                </a:solidFill>
              </a:rPr>
              <a:t>◆ peak_broadening   ◆ Van_Deemter_equation   ◆ A_term   ◆ B_term   ◆ C_term   ◆ flow_rate   ◆ plate_height   ◆ column_packing   ◆ molecular_diffusion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416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Each keyword maps to a node in the ontology-grounded hypergraph. Traversal begins from these anchors.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STEP 2  ·  KNOWLEDGE GRAPH TRAVERSAL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The query keyword nodes act as anchors. The graph expands outward along ontology-validated edges.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417320"/>
            <a:ext cx="1554480" cy="941832"/>
          </a:xfrm>
          <a:prstGeom prst="line">
            <a:avLst/>
          </a:prstGeom>
          <a:noFill/>
          <a:ln w="2286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7602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5CBF"/>
                </a:solidFill>
              </a:rPr>
              <a:t>GOVERNS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-1124712" cy="1389888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46404" y="19842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HAS_TERM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011680" y="1417320"/>
            <a:ext cx="429768" cy="2304288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723644" y="24414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HAS_TERM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011680" y="1417320"/>
            <a:ext cx="-1170432" cy="2944368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23544" y="27614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HAS_TERM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943600" y="1444752"/>
            <a:ext cx="-1325880" cy="914400"/>
          </a:xfrm>
          <a:prstGeom prst="line">
            <a:avLst/>
          </a:prstGeom>
          <a:noFill/>
          <a:ln w="22860">
            <a:solidFill>
              <a:srgbClr val="7C5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7740" y="17739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5CBF"/>
                </a:solidFill>
              </a:rPr>
              <a:t>INCREASES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629400" y="1444752"/>
            <a:ext cx="457200" cy="1024128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355080" y="18288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DETERMINES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086600" y="2697480"/>
            <a:ext cx="-2423160" cy="-338328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372100" y="24003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DEFINES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492240" y="3858768"/>
            <a:ext cx="-4892040" cy="-105156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543300" y="320497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CAUSES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160520" y="4361688"/>
            <a:ext cx="-1005840" cy="-438912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154680" y="40142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DRIVES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566160" y="2103120"/>
            <a:ext cx="2011680" cy="512064"/>
          </a:xfrm>
          <a:prstGeom prst="rect">
            <a:avLst/>
          </a:prstGeom>
          <a:solidFill>
            <a:srgbClr val="7C5CBF"/>
          </a:solidFill>
          <a:ln w="31750">
            <a:solidFill>
              <a:srgbClr val="7C5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103120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peak_broadening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1188720"/>
            <a:ext cx="1828800" cy="457200"/>
          </a:xfrm>
          <a:prstGeom prst="rect">
            <a:avLst/>
          </a:prstGeom>
          <a:solidFill>
            <a:srgbClr val="5A3F9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" y="118872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Van Deemter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Equation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606040"/>
            <a:ext cx="141732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" y="2606040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A-term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Eddy Diff.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37360" y="3520440"/>
            <a:ext cx="141732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73936" y="3520440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B-term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Long. Diff.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" y="4160520"/>
            <a:ext cx="141732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" y="4160520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C-term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Mass Transfer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1234440"/>
            <a:ext cx="1371600" cy="411480"/>
          </a:xfrm>
          <a:prstGeom prst="rect">
            <a:avLst/>
          </a:prstGeom>
          <a:solidFill>
            <a:srgbClr val="5A3F9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0176" y="123444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Flow Rate (u)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2468880"/>
            <a:ext cx="1371600" cy="411480"/>
          </a:xfrm>
          <a:prstGeom prst="rect">
            <a:avLst/>
          </a:prstGeom>
          <a:solidFill>
            <a:srgbClr val="5A3F9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4576" y="24688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Plate Height (H)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52160" y="3657600"/>
            <a:ext cx="155448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88736" y="365760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Column Packing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160520"/>
            <a:ext cx="141732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4160520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Molecular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Diffusion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700016"/>
            <a:ext cx="8595360" cy="29260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764024"/>
            <a:ext cx="201168" cy="146304"/>
          </a:xfrm>
          <a:prstGeom prst="rect">
            <a:avLst/>
          </a:prstGeom>
          <a:solidFill>
            <a:srgbClr val="7C5CB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74573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Query anchor node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4764024"/>
            <a:ext cx="201168" cy="146304"/>
          </a:xfrm>
          <a:prstGeom prst="rect">
            <a:avLst/>
          </a:prstGeom>
          <a:solidFill>
            <a:srgbClr val="5A3F9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474573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Primary hyperedge node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764024"/>
            <a:ext cx="201168" cy="146304"/>
          </a:xfrm>
          <a:prstGeom prst="rect">
            <a:avLst/>
          </a:prstGeom>
          <a:solidFill>
            <a:srgbClr val="D1D5D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474573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Supporting concept node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STEP 3  ·  OPTIMIZER SELECTS MINIMUM HYPEREDGE FACT CLUSTERS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Unlike similarity search (most-similar chunk), the OG-RAG optimizer finds the minimum set of hyperedges that logically cover all PIKE-RAG sub-questions.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51960" cy="1901952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4251960" cy="54864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" y="1069848"/>
            <a:ext cx="731520" cy="2468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06984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HE-001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61288" y="1051560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Van Deemter Fundamentals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14173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H = A + B/u + Cu  (plate height equation)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74650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H is minimised at optimal linear velocity u_opt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20756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Peak broadening ∝ plate height 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4251960" cy="237744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2615184"/>
            <a:ext cx="4041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3F9A"/>
                </a:solidFill>
              </a:rPr>
              <a:t>Source: Snyder &amp; Kirkland Ch.2 pp.47–53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90872" y="960120"/>
            <a:ext cx="4251960" cy="1901952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960120"/>
            <a:ext cx="4251960" cy="54864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069848"/>
            <a:ext cx="731520" cy="2468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06984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HE-007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23560" y="1051560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A-Term: Eddy Diffusion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55464" y="14173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Flow-rate independent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5464" y="174650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A = 2λdp (particle diameter dependent)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55464" y="20756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Controlled by column packing uniformity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90872" y="2606040"/>
            <a:ext cx="4251960" cy="237744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615184"/>
            <a:ext cx="4041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3F9A"/>
                </a:solidFill>
              </a:rPr>
              <a:t>Source: Snyder &amp; Kirkland Ch.2 pp.54–58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971800"/>
            <a:ext cx="4251960" cy="1901952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2971800"/>
            <a:ext cx="4251960" cy="54864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8" name="Shape 26"/>
          <p:cNvSpPr/>
          <p:nvPr/>
        </p:nvSpPr>
        <p:spPr>
          <a:xfrm>
            <a:off x="338328" y="3081528"/>
            <a:ext cx="731520" cy="2468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" y="30815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HE-012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61288" y="3063240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B-Term: Longitudinal Diff.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" y="34290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Dominates at low flow rates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" y="375818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B = 2γDm — molecular diffusion coefficient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3192" y="408736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Contribution falls as flow rate rises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4617720"/>
            <a:ext cx="4251960" cy="237744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" y="4626864"/>
            <a:ext cx="4041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3F9A"/>
                </a:solidFill>
              </a:rPr>
              <a:t>Source: Snyder &amp; Kirkland Ch.2 pp.59–61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90872" y="2971800"/>
            <a:ext cx="4251960" cy="1901952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90872" y="2971800"/>
            <a:ext cx="4251960" cy="54864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8" name="Shape 36"/>
          <p:cNvSpPr/>
          <p:nvPr/>
        </p:nvSpPr>
        <p:spPr>
          <a:xfrm>
            <a:off x="4800600" y="3081528"/>
            <a:ext cx="731520" cy="24688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0815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HE-019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23560" y="3063240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C-Term: Mass Transfer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55464" y="34290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Dominates at high flow rates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55464" y="375818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Increases with linear velocity 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55464" y="408736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◆  Sub-2µm particles (UHPLC) minimise C-term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90872" y="4617720"/>
            <a:ext cx="4251960" cy="237744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4626864"/>
            <a:ext cx="4041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3F9A"/>
                </a:solidFill>
              </a:rPr>
              <a:t>Source: Snyder &amp; Kirkland Ch.3 pp.88–94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476402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4 hyperedges retrieved  ·  12 verified facts  ·  4 source citations locked  ·  Context noise = 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STEP 4–5  ·  GENERATION + THREE-TIER VERIFICATION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5212080" cy="4206240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C5CBF"/>
                </a:solidFill>
              </a:rPr>
              <a:t>GENERATED ANSWER (pre-verification)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8813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Peak broadening is quantified by plate height H, governed by H = A + B/u + Cu (Van Deemter).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462272" y="1124712"/>
            <a:ext cx="822960" cy="2103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462272" y="112471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PASS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462272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[HE-001]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1673352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099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The A-term (eddy diffusion) is flow-rate independent; determined by particle size and packing uniformity.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462272" y="1746504"/>
            <a:ext cx="822960" cy="2103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174650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PASS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462272" y="198424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[HE-007]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0040" y="2295144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31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The B-term (longitudinal diffusion) dominates at low flow rates and decreases as velocity rises.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462272" y="2368296"/>
            <a:ext cx="822960" cy="2103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4462272" y="236829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PASS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62272" y="26060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[HE-012]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2916936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535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The C-term (mass transfer resistance) increases with flow rate; minimised by sub-2µm UHPLC particles.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462272" y="2990088"/>
            <a:ext cx="822960" cy="2103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462272" y="299008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PASS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462272" y="322783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[HE-019]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0040" y="3538728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7530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An optimal u_opt exists at dH/du = 0 where total broadening is minimised and column efficiency peaks.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462272" y="3611880"/>
            <a:ext cx="822960" cy="2103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4462272" y="361188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PASS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462272" y="38496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[HE-001]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577840" y="658368"/>
            <a:ext cx="3429000" cy="4206240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731520"/>
            <a:ext cx="3154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5CBF"/>
                </a:solidFill>
              </a:rPr>
              <a:t>VERIFICATION TIERS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69280" y="1078992"/>
            <a:ext cx="3200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1078992"/>
            <a:ext cx="45720" cy="11430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6" name="Shape 34"/>
          <p:cNvSpPr/>
          <p:nvPr/>
        </p:nvSpPr>
        <p:spPr>
          <a:xfrm>
            <a:off x="5760720" y="1170432"/>
            <a:ext cx="384048" cy="38404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36208" y="11704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Ontology Constraint Gate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60720" y="153619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At ingestion — rejects any fact that violates the schema. Fires once at build-time, permanently.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5669280" y="2340864"/>
            <a:ext cx="3200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2340864"/>
            <a:ext cx="45720" cy="11430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2" name="Shape 40"/>
          <p:cNvSpPr/>
          <p:nvPr/>
        </p:nvSpPr>
        <p:spPr>
          <a:xfrm>
            <a:off x="5760720" y="2432304"/>
            <a:ext cx="384048" cy="38404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3" name="Text 41"/>
          <p:cNvSpPr/>
          <p:nvPr/>
        </p:nvSpPr>
        <p:spPr>
          <a:xfrm>
            <a:off x="576072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36208" y="243230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PIKE-RAG Sub-query Routing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60720" y="279806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Each sub-question is routed to specific hyperedges. Generation is bounded to retrieved context only.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669280" y="3602736"/>
            <a:ext cx="3200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0" y="3602736"/>
            <a:ext cx="45720" cy="11430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8" name="Shape 46"/>
          <p:cNvSpPr/>
          <p:nvPr/>
        </p:nvSpPr>
        <p:spPr>
          <a:xfrm>
            <a:off x="5760720" y="3694176"/>
            <a:ext cx="384048" cy="38404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9" name="Text 47"/>
          <p:cNvSpPr/>
          <p:nvPr/>
        </p:nvSpPr>
        <p:spPr>
          <a:xfrm>
            <a:off x="576072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36208" y="369417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NLI Sentence Verification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760720" y="405993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Post-generation — every output sentence checked: does the hyperedge entail this claim? Fail = remove or flag.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5577840" y="4736592"/>
            <a:ext cx="3429000" cy="274320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47457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5CBF"/>
                </a:solidFill>
              </a:rPr>
              <a:t>5 / 5 claims verified  ·  100% provenance  ·  0 removed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STEP 6  ·  VERIFIED ANSWER DELIVERED TO USER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686800" cy="3611880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749808"/>
            <a:ext cx="1554480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7178040" y="7498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 100% VERIFIED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24358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1.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Peak broadening in HPLC is quantified by plate height (H), described by the Van Deemter equation: H = A + B/u + Cu, where each term represents a distinct physical mechanism.</a:t>
            </a:r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  [HE-001]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00784"/>
            <a:ext cx="832104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5564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2.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The A-term (eddy diffusion) is independent of flow rate and arises from non-uniform flow paths through column packing — minimised by tighter particle size distribution.</a:t>
            </a:r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  [HE-007]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832104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6771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3.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The B-term (longitudinal diffusion) dominates at low flow velocities. As u increases, B/u falls and its contribution to broadening decreases.</a:t>
            </a:r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  [HE-012]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832104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7977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4.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The C-term (mass transfer resistance) increases linearly with u. Modern UHPLC uses sub-2µm particles to minimise stationary phase mass transfer.</a:t>
            </a:r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  [HE-019]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832104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2918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5.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An optimal flow rate u_opt exists at the minimum of the Van Deemter curve (dH/du = 0), where total broadening is minimised and efficiency is maximised.</a:t>
            </a:r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  [HE-001]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370832"/>
            <a:ext cx="1600200" cy="585216"/>
          </a:xfrm>
          <a:prstGeom prst="rect">
            <a:avLst/>
          </a:prstGeom>
          <a:solidFill>
            <a:srgbClr val="EDE8F7"/>
          </a:solidFill>
          <a:ln w="10160">
            <a:solidFill>
              <a:srgbClr val="7C5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389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B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" y="47000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Hyperedges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retrieved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0" y="4370832"/>
            <a:ext cx="1600200" cy="585216"/>
          </a:xfrm>
          <a:prstGeom prst="rect">
            <a:avLst/>
          </a:prstGeom>
          <a:solidFill>
            <a:srgbClr val="EDE8F7"/>
          </a:solidFill>
          <a:ln w="10160">
            <a:solidFill>
              <a:srgbClr val="7C5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4389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BF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47000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Verified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claims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49040" y="4370832"/>
            <a:ext cx="1600200" cy="585216"/>
          </a:xfrm>
          <a:prstGeom prst="rect">
            <a:avLst/>
          </a:prstGeom>
          <a:solidFill>
            <a:srgbClr val="EDE8F7"/>
          </a:solidFill>
          <a:ln w="10160">
            <a:solidFill>
              <a:srgbClr val="7C5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4389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B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49040" y="47000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citations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0" y="4370832"/>
            <a:ext cx="1600200" cy="585216"/>
          </a:xfrm>
          <a:prstGeom prst="rect">
            <a:avLst/>
          </a:prstGeom>
          <a:solidFill>
            <a:srgbClr val="EDE8F7"/>
          </a:solidFill>
          <a:ln w="1016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4389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47000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Hallucinated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claims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23760" y="4370832"/>
            <a:ext cx="1600200" cy="585216"/>
          </a:xfrm>
          <a:prstGeom prst="rect">
            <a:avLst/>
          </a:prstGeom>
          <a:solidFill>
            <a:srgbClr val="EDE8F7"/>
          </a:solidFill>
          <a:ln w="10160">
            <a:solidFill>
              <a:srgbClr val="7C5C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4389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BF"/>
                </a:solidFill>
              </a:rPr>
              <a:t>100%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23760" y="47000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Claim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traceability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HOW WE DEFEND GRAPH ACCURACY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C5CBF"/>
                </a:solidFill>
              </a:rPr>
              <a:t>"Isn't fully-automated LLM graph generation vague and inaccurate?"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Yes — for unconstrained extraction. No — for our ontology-first, schema-gated pipeline. Here is the difference: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4251960" cy="1719072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54864" cy="171907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25880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Ontology Schema: Human-Validated Once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4041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LLM proposes entity &amp; relationship types per chapter. Domain scientist reviews, corrects, approves. This takes 1–2 weeks — one time. Every downstream extraction is constrained to this validated schema. Manual effort at the schema level, not at the 50,000-fact level.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4069080" cy="246888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6609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5CBF"/>
                </a:solidFill>
              </a:rPr>
              <a:t>◆  ~0% schema-violation entries in final graph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90872" y="1234440"/>
            <a:ext cx="4251960" cy="1719072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1234440"/>
            <a:ext cx="54864" cy="171907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325880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Constraint Rejection at Ingestion 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645920"/>
            <a:ext cx="4041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Any extracted fact violating the schema is rejected before entering the hypergraph. This is prevention, not post-hoc cleaning. Spurious connections cannot accumulate — they never pass the validator. This is fundamentally different from unconstrained GraphRAG extraction.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782312" y="2651760"/>
            <a:ext cx="4069080" cy="246888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6609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5CBF"/>
                </a:solidFill>
              </a:rPr>
              <a:t>◆  Largest source of graph pollution eliminated upstream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3063240"/>
            <a:ext cx="4251960" cy="1719072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063240"/>
            <a:ext cx="54864" cy="171907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154680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CHMO Aligner: Synonym Canonicalization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474720"/>
            <a:ext cx="4041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"Mobile phase", "eluent", and "solvent mixture" all resolve to one canonical node. Without this, identical concepts exist as 3 disconnected nodes — queries miss 2/3 of the content. The aligner applies standard chemistry ontology mapping at scale.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20040" y="4480560"/>
            <a:ext cx="4069080" cy="246888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4897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5CBF"/>
                </a:solidFill>
              </a:rPr>
              <a:t>◆  Prevents ~60% of duplicate-concept fragmentation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90872" y="3063240"/>
            <a:ext cx="4251960" cy="1719072"/>
          </a:xfrm>
          <a:prstGeom prst="rect">
            <a:avLst/>
          </a:prstGeom>
          <a:solidFill>
            <a:srgbClr val="F7F5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3063240"/>
            <a:ext cx="54864" cy="171907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3154680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FAISS Safety Net for Uncaptured Content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474720"/>
            <a:ext cx="4041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~15–20% of content doesn't enter the hypergraph cleanly (implicit knowledge, legacy terms, singletons). This content is NOT lost — it exists in the parallel FAISS vector index. Hybrid retrieval merges both. Total effective coverage ~97%.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782312" y="4480560"/>
            <a:ext cx="4069080" cy="246888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44897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5CBF"/>
                </a:solidFill>
              </a:rPr>
              <a:t>◆  Hypergraph 80–85%  +  FAISS remainder  =  ~97% total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SUMMARY SCORECARD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56032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34640" y="658368"/>
            <a:ext cx="1828800" cy="36576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6583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OG-RAG + PIKE-RAG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658368"/>
            <a:ext cx="237744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658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Best Competitor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40880" y="658368"/>
            <a:ext cx="164592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658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Δ Advantage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024128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02412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Fact Recall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024128"/>
            <a:ext cx="1828800" cy="475488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504" y="10241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9A"/>
                </a:solidFill>
              </a:rPr>
              <a:t>93%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24128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02412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61% (Fine-tune)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02412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5744" y="102412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+32pp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527048"/>
            <a:ext cx="256032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152704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Answer Correctness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1527048"/>
            <a:ext cx="1828800" cy="475488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9504" y="15270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9A"/>
                </a:solidFill>
              </a:rPr>
              <a:t>89%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527048"/>
            <a:ext cx="237744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152704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48% (Fine-tune)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1527048"/>
            <a:ext cx="164592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152704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+41pp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029968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0299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Claim Verifiability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2029968"/>
            <a:ext cx="1828800" cy="475488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9504" y="202996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9A"/>
                </a:solidFill>
              </a:rPr>
              <a:t>100%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029968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02996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0% (all others)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202996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95744" y="20299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+100pp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2532888"/>
            <a:ext cx="256032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253288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Hallucination Rate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2532888"/>
            <a:ext cx="1828800" cy="475488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9504" y="253288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9A"/>
                </a:solidFill>
              </a:rPr>
              <a:t>~0%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532888"/>
            <a:ext cx="237744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253288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~30% (Naive RAG)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40880" y="2532888"/>
            <a:ext cx="164592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95744" y="253288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−30pp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035808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03580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Multi-hop Accuracy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34640" y="3035808"/>
            <a:ext cx="1828800" cy="475488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9504" y="303580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9A"/>
                </a:solidFill>
              </a:rPr>
              <a:t>70–80%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035808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303580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&lt;30% (GraphRAG)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40880" y="303580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95744" y="303580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+50pp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538728"/>
            <a:ext cx="256032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184" y="353872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Graph Coverage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834640" y="3538728"/>
            <a:ext cx="1828800" cy="475488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89504" y="35387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9A"/>
                </a:solidFill>
              </a:rPr>
              <a:t>~97%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63440" y="3538728"/>
            <a:ext cx="237744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8304" y="353872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N/A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40880" y="3538728"/>
            <a:ext cx="164592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95744" y="353872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Novel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4041648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" y="404164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Compliance-Ready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834640" y="4041648"/>
            <a:ext cx="1828800" cy="475488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89504" y="404164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9A"/>
                </a:solidFill>
              </a:rPr>
              <a:t>Yes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663440" y="4041648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8304" y="404164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No (all others)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040880" y="404164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95744" y="404164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Unique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74320" y="4544568"/>
            <a:ext cx="256032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" y="45445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PIKE-RAG Decomposition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834640" y="4544568"/>
            <a:ext cx="1828800" cy="475488"/>
          </a:xfrm>
          <a:prstGeom prst="rect">
            <a:avLst/>
          </a:prstGeom>
          <a:solidFill>
            <a:srgbClr val="EDE8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89504" y="454456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9A"/>
                </a:solidFill>
              </a:rPr>
              <a:t>Native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63440" y="4544568"/>
            <a:ext cx="237744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18304" y="454456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Not available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040880" y="4544568"/>
            <a:ext cx="1645920" cy="475488"/>
          </a:xfrm>
          <a:prstGeom prst="rect">
            <a:avLst/>
          </a:prstGeom>
          <a:solidFill>
            <a:srgbClr val="F7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95744" y="45445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BF"/>
                </a:solidFill>
              </a:rPr>
              <a:t>Unique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5CBF"/>
                </a:solidFill>
              </a:rPr>
              <a:t>OG-RAG + PIKE-RAG is the only architecture that is simultaneously accurate, verifiable, auditable, and compliance-ready.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5001768"/>
          </a:xfrm>
          <a:prstGeom prst="rect">
            <a:avLst/>
          </a:prstGeom>
          <a:solidFill>
            <a:srgbClr val="EDE8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7C5CBF"/>
                </a:solidFill>
              </a:rPr>
              <a:t>THE VERDICT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</a:rPr>
              <a:t>Accurate. Verified.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</a:rPr>
              <a:t>Auditable. Scalable.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OG-RAG + PIKE-RAG is not a marginal improvement on RAG.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It is a structural rethink of how retrieval-based AI should work for high-stakes domains.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3840480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5CBF"/>
                </a:solidFill>
              </a:rPr>
              <a:t>Ontology-Constrained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66544" y="3840480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5CBF"/>
                </a:solidFill>
              </a:rPr>
              <a:t>Hyperedge Clustering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3840480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5CBF"/>
                </a:solidFill>
              </a:rPr>
              <a:t>PIKE-RAG Multi-hop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31536" y="3840480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5CBF"/>
                </a:solidFill>
              </a:rPr>
              <a:t>NLI Verification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14032" y="3840480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5CBF"/>
                </a:solidFill>
              </a:rPr>
              <a:t>Full Provenance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OG-RAG + PIKE-RAG Architecture</dc:title>
  <dc:subject>PptxGenJS Presentation</dc:subject>
  <dc:creator>PptxGenJS</dc:creator>
  <cp:lastModifiedBy>PptxGenJS</cp:lastModifiedBy>
  <cp:revision>1</cp:revision>
  <dcterms:created xsi:type="dcterms:W3CDTF">2026-04-06T06:37:04Z</dcterms:created>
  <dcterms:modified xsi:type="dcterms:W3CDTF">2026-04-06T06:37:04Z</dcterms:modified>
</cp:coreProperties>
</file>